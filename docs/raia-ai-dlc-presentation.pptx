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about connecting the two AI adoptions most teams already made separately: coding agents in the IDE, and knowledge agents for the business. The punchline is one closed loop: agents brief the code, shipped code retrains the agents. Everything shown today is in the public playbook repo: github.com/raia-ai/ai-dlc-playbook.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a developer implementing refund logic today has three options — read a possibly stale wiki, interrupt a human, or guess. All three are failure modes we've normalized. Both AI investments are real, but they're parallel, not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three costs that resonate for this audience and replace the sixth card with your organization's real numbers — even rough estimates beat placeholders. For an exec audience, lead with interrupt load and support lag; for a dev audience, lead with interrupt-driven archaeology and docs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'centralized': the alternative — every tool with its own RAG, every team with its own bot — recreates the silo problem one level down. One brain per domain, not per person. Also flag tool-agnosticism early: Claude Code is the reference implementation, but every play relies only on an MCP client and an instruction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four wires require no new engineering — just configuration. That's why the rollout starts in days, not quarters. Wire 1: raia's MCP server mode makes any agent a callable tool inside the coding session. Wire 2: one CI job pushes changed Markdown into the vector stores. Wires 3 and 4 come later in the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brain per domain, not per person. This is the one-time investment: build the three agents in Launch Pad, train them in Command on documents you already have, and enable the MCP Skill so tools can reach them. The Orchestrator upgrade can come later — don't block the rollout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developer-side setup: a committed .mcp.json means every session in every clone opens already connected — terminal, desktop, or web. The instruction file tells the agent when to use the tools, so developers don't have to remember. Templates for both files, including IDE variants for VS Code, Cursor, and Windsurf, are in the playbook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in 60 seconds. The two green phases are the whole point — knowledge crossing from raia into the plan (phase 3), and from the merge back into raia (phase 6). PM works the raia surfaces, developers work the coding agent, and the loop means each cycle starts with better inputs than the last. The full swimlane version with per-phase detail is in the lifecycle map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dev audiences this is the heart of the talk. A2: the plan cites constraints the developer didn't personally know. A3: three routing rules cover nearly every mid-task question. A4: the spec-review skill ships in the playbook repo. Close on the trust rule — verification against code is mandatory, and the failure mode is visible and self-correcting, unlike tribal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reframes the support lead's job from content writer to verifier — Copilot Admin Mode shows exactly which documents the agent retrieved. B2 is the showpiece automation: emphasize the guardrail, because it pre-empts the 'AI merging code' fear. B4 pays for the whole knowledge investment org-wide. (B3, the feedback loop, is in the playbook — mention it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is the keystone play of the entire system — if you adopt only one thing from this talk, adopt this. The workflow file is in the playbook repo; it's an afternoon of CI plumbing. The demo beat for this track: merge a docs change, then ask the Support Agent about it in Copilot — 'Nobody updated the help center. The merge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slide before anyone asks. The four rails: scoped rotating keys, read-only conversational access, PII confined to raia's governed stores with SOC 2 / GDPR / HIPAA posture, and human-gated merges. Nothing in this system gives an AI unattended write access to production code or customer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to reviewing these six at day 90 and killing any play that doesn't move its metric. That commitment is what separates this from hype: every play has a falsifiable success signal, and the numbers are cheap to collect — most come from Copilot analytics and GitHub data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30 days are configuration, not construction — two config files and one CI job. That's the ask for a skeptical room: thirty days, one repo, measurable outcomes. Everything in days 31–90 builds on habits, not new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DLC is the sharpest use case, but the same three agents serve the whole engineering organization: onboarding, incident response, and cross-team knowledge access. This is also the answer to 'is this worth the setup?' — the investment amortizes across every team that can reach Copilot or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close: the ask is thirty days of configuration and three named owners — everything needed is in the repo. Customer close: start with one agent, one repo, one week; the templates are drop-in. Land the line and stop talking: every merge makes the whole company smarter.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A2E"/>
        </a:solidFill>
      </p:bgPr>
    </p:bg>
    <p:spTree>
      <p:nvGrpSpPr>
        <p:cNvPr id="1" name=""/>
        <p:cNvGrpSpPr/>
        <p:nvPr/>
      </p:nvGrpSpPr>
      <p:grpSpPr>
        <a:xfrm>
          <a:off x="0" y="0"/>
          <a:ext cx="0" cy="0"/>
          <a:chOff x="0" y="0"/>
          <a:chExt cx="0" cy="0"/>
        </a:xfrm>
      </p:grpSpPr>
      <p:sp>
        <p:nvSpPr>
          <p:cNvPr id="2" name="Text 0"/>
          <p:cNvSpPr/>
          <p:nvPr/>
        </p:nvSpPr>
        <p:spPr>
          <a:xfrm>
            <a:off x="548640" y="1371600"/>
            <a:ext cx="6583680" cy="320040"/>
          </a:xfrm>
          <a:prstGeom prst="rect">
            <a:avLst/>
          </a:prstGeom>
          <a:noFill/>
          <a:ln/>
        </p:spPr>
        <p:txBody>
          <a:bodyPr wrap="square" lIns="0" tIns="0" rIns="0" bIns="0" rtlCol="0" anchor="ctr"/>
          <a:lstStyle/>
          <a:p>
            <a:pPr indent="0" marL="0">
              <a:buNone/>
            </a:pPr>
            <a:r>
              <a:rPr lang="en-US" sz="1300" spc="300" kern="0" dirty="0">
                <a:solidFill>
                  <a:srgbClr val="6D4AEF"/>
                </a:solidFill>
                <a:latin typeface="Courier New" pitchFamily="34" charset="0"/>
                <a:ea typeface="Courier New" pitchFamily="34" charset="-122"/>
                <a:cs typeface="Courier New" pitchFamily="34" charset="-120"/>
              </a:rPr>
              <a:t>RAIA  ×  AI CODING AGENTS</a:t>
            </a:r>
            <a:endParaRPr lang="en-US" sz="1300" dirty="0"/>
          </a:p>
        </p:txBody>
      </p:sp>
      <p:sp>
        <p:nvSpPr>
          <p:cNvPr id="3" name="Text 1"/>
          <p:cNvSpPr/>
          <p:nvPr/>
        </p:nvSpPr>
        <p:spPr>
          <a:xfrm>
            <a:off x="548640" y="1783080"/>
            <a:ext cx="6766560" cy="237744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Arial" pitchFamily="34" charset="0"/>
                <a:ea typeface="Arial" pitchFamily="34" charset="-122"/>
                <a:cs typeface="Arial" pitchFamily="34" charset="-120"/>
              </a:rPr>
              <a:t>Closing the loop:</a:t>
            </a:r>
            <a:endParaRPr lang="en-US" sz="4000" dirty="0"/>
          </a:p>
          <a:p>
            <a:pPr indent="0" marL="0">
              <a:lnSpc>
                <a:spcPts val="4800"/>
              </a:lnSpc>
              <a:buNone/>
            </a:pPr>
            <a:r>
              <a:rPr lang="en-US" sz="4000" b="1" dirty="0">
                <a:solidFill>
                  <a:srgbClr val="FFFFFF"/>
                </a:solidFill>
                <a:latin typeface="Arial" pitchFamily="34" charset="0"/>
                <a:ea typeface="Arial" pitchFamily="34" charset="-122"/>
                <a:cs typeface="Arial" pitchFamily="34" charset="-120"/>
              </a:rPr>
              <a:t>raia agents in the AI</a:t>
            </a:r>
            <a:endParaRPr lang="en-US" sz="4000" dirty="0"/>
          </a:p>
          <a:p>
            <a:pPr indent="0" marL="0">
              <a:lnSpc>
                <a:spcPts val="4800"/>
              </a:lnSpc>
              <a:buNone/>
            </a:pPr>
            <a:r>
              <a:rPr lang="en-US" sz="4000" b="1" dirty="0">
                <a:solidFill>
                  <a:srgbClr val="C9C2DE"/>
                </a:solidFill>
                <a:latin typeface="Arial" pitchFamily="34" charset="0"/>
                <a:ea typeface="Arial" pitchFamily="34" charset="-122"/>
                <a:cs typeface="Arial" pitchFamily="34" charset="-120"/>
              </a:rPr>
              <a:t>development lifecycle</a:t>
            </a:r>
            <a:endParaRPr lang="en-US" sz="4000" dirty="0"/>
          </a:p>
        </p:txBody>
      </p:sp>
      <p:sp>
        <p:nvSpPr>
          <p:cNvPr id="4" name="Text 2"/>
          <p:cNvSpPr/>
          <p:nvPr/>
        </p:nvSpPr>
        <p:spPr>
          <a:xfrm>
            <a:off x="548640" y="4343400"/>
            <a:ext cx="6035040" cy="822960"/>
          </a:xfrm>
          <a:prstGeom prst="rect">
            <a:avLst/>
          </a:prstGeom>
          <a:noFill/>
          <a:ln/>
        </p:spPr>
        <p:txBody>
          <a:bodyPr wrap="square" lIns="0" tIns="0" rIns="0" bIns="0" rtlCol="0" anchor="ctr"/>
          <a:lstStyle/>
          <a:p>
            <a:pPr indent="0" marL="0">
              <a:lnSpc>
                <a:spcPts val="2100"/>
              </a:lnSpc>
              <a:buNone/>
            </a:pPr>
            <a:r>
              <a:rPr lang="en-US" sz="1500" dirty="0">
                <a:solidFill>
                  <a:srgbClr val="A79DC0"/>
                </a:solidFill>
                <a:latin typeface="Arial" pitchFamily="34" charset="0"/>
                <a:ea typeface="Arial" pitchFamily="34" charset="-122"/>
                <a:cs typeface="Arial" pitchFamily="34" charset="-120"/>
              </a:rPr>
              <a:t>How product knowledge flows into every coding session — and everything shipped flows back into the agents.</a:t>
            </a:r>
            <a:endParaRPr lang="en-US" sz="1500" dirty="0"/>
          </a:p>
        </p:txBody>
      </p:sp>
      <p:sp>
        <p:nvSpPr>
          <p:cNvPr id="5" name="Text 3"/>
          <p:cNvSpPr/>
          <p:nvPr/>
        </p:nvSpPr>
        <p:spPr>
          <a:xfrm>
            <a:off x="548640" y="6126480"/>
            <a:ext cx="5486400" cy="274320"/>
          </a:xfrm>
          <a:prstGeom prst="rect">
            <a:avLst/>
          </a:prstGeom>
          <a:noFill/>
          <a:ln/>
        </p:spPr>
        <p:txBody>
          <a:bodyPr wrap="square" lIns="0" tIns="0" rIns="0" bIns="0" rtlCol="0" anchor="ctr"/>
          <a:lstStyle/>
          <a:p>
            <a:pPr indent="0" marL="0">
              <a:buNone/>
            </a:pPr>
            <a:r>
              <a:rPr lang="en-US" sz="1100" dirty="0">
                <a:solidFill>
                  <a:srgbClr val="5A5170"/>
                </a:solidFill>
                <a:latin typeface="Courier New" pitchFamily="34" charset="0"/>
                <a:ea typeface="Courier New" pitchFamily="34" charset="-122"/>
                <a:cs typeface="Courier New" pitchFamily="34" charset="-120"/>
              </a:rPr>
              <a:t>github.com/raia-ai/ai-dlc-playbook</a:t>
            </a:r>
            <a:endParaRPr lang="en-US" sz="1100" dirty="0"/>
          </a:p>
        </p:txBody>
      </p:sp>
      <p:sp>
        <p:nvSpPr>
          <p:cNvPr id="6" name="Shape 4"/>
          <p:cNvSpPr/>
          <p:nvPr/>
        </p:nvSpPr>
        <p:spPr>
          <a:xfrm>
            <a:off x="7863840" y="1417320"/>
            <a:ext cx="3566160" cy="1051560"/>
          </a:xfrm>
          <a:prstGeom prst="roundRect">
            <a:avLst>
              <a:gd name="adj" fmla="val 8696"/>
            </a:avLst>
          </a:prstGeom>
          <a:solidFill>
            <a:srgbClr val="2A2344"/>
          </a:solidFill>
          <a:ln w="19050">
            <a:solidFill>
              <a:srgbClr val="6D4AEF"/>
            </a:solidFill>
            <a:prstDash val="solid"/>
          </a:ln>
        </p:spPr>
      </p:sp>
      <p:sp>
        <p:nvSpPr>
          <p:cNvPr id="7" name="Shape 5"/>
          <p:cNvSpPr/>
          <p:nvPr/>
        </p:nvSpPr>
        <p:spPr>
          <a:xfrm>
            <a:off x="8092440" y="1700784"/>
            <a:ext cx="475488" cy="475488"/>
          </a:xfrm>
          <a:prstGeom prst="ellipse">
            <a:avLst/>
          </a:prstGeom>
          <a:solidFill>
            <a:srgbClr val="6D4AEF"/>
          </a:solidFill>
          <a:ln/>
        </p:spPr>
      </p:sp>
      <p:pic>
        <p:nvPicPr>
          <p:cNvPr id="8" name="Image 0" descr="preencoded.png">    </p:cNvPr>
          <p:cNvPicPr>
            <a:picLocks noChangeAspect="1"/>
          </p:cNvPicPr>
          <p:nvPr/>
        </p:nvPicPr>
        <p:blipFill>
          <a:blip r:embed="rId1"/>
          <a:stretch>
            <a:fillRect/>
          </a:stretch>
        </p:blipFill>
        <p:spPr>
          <a:xfrm>
            <a:off x="8216067" y="1824411"/>
            <a:ext cx="228234" cy="228234"/>
          </a:xfrm>
          <a:prstGeom prst="rect">
            <a:avLst/>
          </a:prstGeom>
        </p:spPr>
      </p:pic>
      <p:sp>
        <p:nvSpPr>
          <p:cNvPr id="9" name="Text 6"/>
          <p:cNvSpPr/>
          <p:nvPr/>
        </p:nvSpPr>
        <p:spPr>
          <a:xfrm>
            <a:off x="8732520" y="1572768"/>
            <a:ext cx="2560320" cy="777240"/>
          </a:xfrm>
          <a:prstGeom prst="rect">
            <a:avLst/>
          </a:prstGeom>
          <a:noFill/>
          <a:ln/>
        </p:spPr>
        <p:txBody>
          <a:bodyPr wrap="square" lIns="0" tIns="0" rIns="0" bIns="0" rtlCol="0" anchor="ctr"/>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raia</a:t>
            </a:r>
            <a:endParaRPr lang="en-US" sz="1600" dirty="0"/>
          </a:p>
          <a:p>
            <a:pPr indent="0" marL="0">
              <a:lnSpc>
                <a:spcPts val="1700"/>
              </a:lnSpc>
              <a:buNone/>
            </a:pPr>
            <a:r>
              <a:rPr lang="en-US" sz="1100" dirty="0">
                <a:solidFill>
                  <a:srgbClr val="A79DC0"/>
                </a:solidFill>
                <a:latin typeface="Arial" pitchFamily="34" charset="0"/>
                <a:ea typeface="Arial" pitchFamily="34" charset="-122"/>
                <a:cs typeface="Arial" pitchFamily="34" charset="-120"/>
              </a:rPr>
              <a:t>the brain — centralized knowledge</a:t>
            </a:r>
            <a:endParaRPr lang="en-US" sz="1600" dirty="0"/>
          </a:p>
        </p:txBody>
      </p:sp>
      <p:sp>
        <p:nvSpPr>
          <p:cNvPr id="10" name="Shape 7"/>
          <p:cNvSpPr/>
          <p:nvPr/>
        </p:nvSpPr>
        <p:spPr>
          <a:xfrm>
            <a:off x="7863840" y="3977640"/>
            <a:ext cx="3566160" cy="1051560"/>
          </a:xfrm>
          <a:prstGeom prst="roundRect">
            <a:avLst>
              <a:gd name="adj" fmla="val 8696"/>
            </a:avLst>
          </a:prstGeom>
          <a:solidFill>
            <a:srgbClr val="2A2344"/>
          </a:solidFill>
          <a:ln w="19050">
            <a:solidFill>
              <a:srgbClr val="C96442"/>
            </a:solidFill>
            <a:prstDash val="solid"/>
          </a:ln>
        </p:spPr>
      </p:sp>
      <p:sp>
        <p:nvSpPr>
          <p:cNvPr id="11" name="Shape 8"/>
          <p:cNvSpPr/>
          <p:nvPr/>
        </p:nvSpPr>
        <p:spPr>
          <a:xfrm>
            <a:off x="8092440" y="4261104"/>
            <a:ext cx="475488" cy="475488"/>
          </a:xfrm>
          <a:prstGeom prst="ellipse">
            <a:avLst/>
          </a:prstGeom>
          <a:solidFill>
            <a:srgbClr val="C96442"/>
          </a:solidFill>
          <a:ln/>
        </p:spPr>
      </p:sp>
      <p:pic>
        <p:nvPicPr>
          <p:cNvPr id="12" name="Image 1" descr="preencoded.png">    </p:cNvPr>
          <p:cNvPicPr>
            <a:picLocks noChangeAspect="1"/>
          </p:cNvPicPr>
          <p:nvPr/>
        </p:nvPicPr>
        <p:blipFill>
          <a:blip r:embed="rId2"/>
          <a:stretch>
            <a:fillRect/>
          </a:stretch>
        </p:blipFill>
        <p:spPr>
          <a:xfrm>
            <a:off x="8216067" y="4384731"/>
            <a:ext cx="228234" cy="228234"/>
          </a:xfrm>
          <a:prstGeom prst="rect">
            <a:avLst/>
          </a:prstGeom>
        </p:spPr>
      </p:pic>
      <p:sp>
        <p:nvSpPr>
          <p:cNvPr id="13" name="Text 9"/>
          <p:cNvSpPr/>
          <p:nvPr/>
        </p:nvSpPr>
        <p:spPr>
          <a:xfrm>
            <a:off x="8732520" y="4133088"/>
            <a:ext cx="2560320" cy="777240"/>
          </a:xfrm>
          <a:prstGeom prst="rect">
            <a:avLst/>
          </a:prstGeom>
          <a:noFill/>
          <a:ln/>
        </p:spPr>
        <p:txBody>
          <a:bodyPr wrap="square" lIns="0" tIns="0" rIns="0" bIns="0" rtlCol="0" anchor="ctr"/>
          <a:lstStyle/>
          <a:p>
            <a:pPr indent="0" marL="0">
              <a:lnSpc>
                <a:spcPts val="1700"/>
              </a:lnSpc>
              <a:buNone/>
            </a:pPr>
            <a:r>
              <a:rPr lang="en-US" sz="1600" b="1" dirty="0">
                <a:solidFill>
                  <a:srgbClr val="FFFFFF"/>
                </a:solidFill>
                <a:latin typeface="Arial" pitchFamily="34" charset="0"/>
                <a:ea typeface="Arial" pitchFamily="34" charset="-122"/>
                <a:cs typeface="Arial" pitchFamily="34" charset="-120"/>
              </a:rPr>
              <a:t>coding agent</a:t>
            </a:r>
            <a:endParaRPr lang="en-US" sz="1600" dirty="0"/>
          </a:p>
          <a:p>
            <a:pPr indent="0" marL="0">
              <a:lnSpc>
                <a:spcPts val="1700"/>
              </a:lnSpc>
              <a:buNone/>
            </a:pPr>
            <a:r>
              <a:rPr lang="en-US" sz="1100" dirty="0">
                <a:solidFill>
                  <a:srgbClr val="A79DC0"/>
                </a:solidFill>
                <a:latin typeface="Arial" pitchFamily="34" charset="0"/>
                <a:ea typeface="Arial" pitchFamily="34" charset="-122"/>
                <a:cs typeface="Arial" pitchFamily="34" charset="-120"/>
              </a:rPr>
              <a:t>the hands — inside the repository</a:t>
            </a:r>
            <a:endParaRPr lang="en-US" sz="1600" dirty="0"/>
          </a:p>
        </p:txBody>
      </p:sp>
      <p:sp>
        <p:nvSpPr>
          <p:cNvPr id="14" name="Shape 10"/>
          <p:cNvSpPr/>
          <p:nvPr/>
        </p:nvSpPr>
        <p:spPr>
          <a:xfrm>
            <a:off x="8366760" y="2514600"/>
            <a:ext cx="0" cy="1417320"/>
          </a:xfrm>
          <a:prstGeom prst="line">
            <a:avLst/>
          </a:prstGeom>
          <a:noFill/>
          <a:ln w="31750">
            <a:solidFill>
              <a:srgbClr val="6D4AEF"/>
            </a:solidFill>
            <a:prstDash val="solid"/>
            <a:tailEnd type="triangle"/>
          </a:ln>
        </p:spPr>
      </p:sp>
      <p:sp>
        <p:nvSpPr>
          <p:cNvPr id="15" name="Shape 11"/>
          <p:cNvSpPr/>
          <p:nvPr/>
        </p:nvSpPr>
        <p:spPr>
          <a:xfrm>
            <a:off x="10927080" y="3931920"/>
            <a:ext cx="0" cy="-1417320"/>
          </a:xfrm>
          <a:prstGeom prst="line">
            <a:avLst/>
          </a:prstGeom>
          <a:noFill/>
          <a:ln w="31750">
            <a:solidFill>
              <a:srgbClr val="2E8B6A"/>
            </a:solidFill>
            <a:prstDash val="solid"/>
            <a:tailEnd type="triangle"/>
          </a:ln>
        </p:spPr>
      </p:sp>
      <p:sp>
        <p:nvSpPr>
          <p:cNvPr id="16" name="Text 12"/>
          <p:cNvSpPr/>
          <p:nvPr/>
        </p:nvSpPr>
        <p:spPr>
          <a:xfrm>
            <a:off x="8641080" y="2724912"/>
            <a:ext cx="2011680" cy="292608"/>
          </a:xfrm>
          <a:prstGeom prst="rect">
            <a:avLst/>
          </a:prstGeom>
          <a:noFill/>
          <a:ln/>
        </p:spPr>
        <p:txBody>
          <a:bodyPr wrap="square" lIns="0" tIns="0" rIns="0" bIns="0" rtlCol="0" anchor="ctr"/>
          <a:lstStyle/>
          <a:p>
            <a:pPr algn="ctr" indent="0" marL="0">
              <a:buNone/>
            </a:pPr>
            <a:r>
              <a:rPr lang="en-US" sz="950" dirty="0">
                <a:solidFill>
                  <a:srgbClr val="9D85FF"/>
                </a:solidFill>
                <a:latin typeface="Courier New" pitchFamily="34" charset="0"/>
                <a:ea typeface="Courier New" pitchFamily="34" charset="-122"/>
                <a:cs typeface="Courier New" pitchFamily="34" charset="-120"/>
              </a:rPr>
              <a:t>agents brief the code</a:t>
            </a:r>
            <a:endParaRPr lang="en-US" sz="950" dirty="0"/>
          </a:p>
        </p:txBody>
      </p:sp>
      <p:sp>
        <p:nvSpPr>
          <p:cNvPr id="17" name="Text 13"/>
          <p:cNvSpPr/>
          <p:nvPr/>
        </p:nvSpPr>
        <p:spPr>
          <a:xfrm>
            <a:off x="8641080" y="3310128"/>
            <a:ext cx="2011680" cy="292608"/>
          </a:xfrm>
          <a:prstGeom prst="rect">
            <a:avLst/>
          </a:prstGeom>
          <a:noFill/>
          <a:ln/>
        </p:spPr>
        <p:txBody>
          <a:bodyPr wrap="square" lIns="0" tIns="0" rIns="0" bIns="0" rtlCol="0" anchor="ctr"/>
          <a:lstStyle/>
          <a:p>
            <a:pPr algn="ctr" indent="0" marL="0">
              <a:buNone/>
            </a:pPr>
            <a:r>
              <a:rPr lang="en-US" sz="950" dirty="0">
                <a:solidFill>
                  <a:srgbClr val="4BB98E"/>
                </a:solidFill>
                <a:latin typeface="Courier New" pitchFamily="34" charset="0"/>
                <a:ea typeface="Courier New" pitchFamily="34" charset="-122"/>
                <a:cs typeface="Courier New" pitchFamily="34" charset="-120"/>
              </a:rPr>
              <a:t>shipped code retrains agents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01 · THE PROBLEM</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Two AI revolutions that don't talk</a:t>
            </a:r>
            <a:endParaRPr lang="en-US" sz="3000" dirty="0"/>
          </a:p>
        </p:txBody>
      </p:sp>
      <p:sp>
        <p:nvSpPr>
          <p:cNvPr id="4" name="Shape 2"/>
          <p:cNvSpPr/>
          <p:nvPr/>
        </p:nvSpPr>
        <p:spPr>
          <a:xfrm>
            <a:off x="548640" y="1600200"/>
            <a:ext cx="4572000" cy="2834640"/>
          </a:xfrm>
          <a:prstGeom prst="roundRect">
            <a:avLst>
              <a:gd name="adj" fmla="val 2581"/>
            </a:avLst>
          </a:prstGeom>
          <a:solidFill>
            <a:srgbClr val="FBEFE9"/>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68680" y="1920240"/>
            <a:ext cx="548640" cy="548640"/>
          </a:xfrm>
          <a:prstGeom prst="ellipse">
            <a:avLst/>
          </a:prstGeom>
          <a:solidFill>
            <a:srgbClr val="C96442"/>
          </a:solidFill>
          <a:ln/>
        </p:spPr>
      </p:sp>
      <p:pic>
        <p:nvPicPr>
          <p:cNvPr id="6" name="Image 0" descr="preencoded.png">    </p:cNvPr>
          <p:cNvPicPr>
            <a:picLocks noChangeAspect="1"/>
          </p:cNvPicPr>
          <p:nvPr/>
        </p:nvPicPr>
        <p:blipFill>
          <a:blip r:embed="rId1"/>
          <a:stretch>
            <a:fillRect/>
          </a:stretch>
        </p:blipFill>
        <p:spPr>
          <a:xfrm>
            <a:off x="1011326" y="2062886"/>
            <a:ext cx="263347" cy="263347"/>
          </a:xfrm>
          <a:prstGeom prst="rect">
            <a:avLst/>
          </a:prstGeom>
        </p:spPr>
      </p:pic>
      <p:sp>
        <p:nvSpPr>
          <p:cNvPr id="7" name="Text 4"/>
          <p:cNvSpPr/>
          <p:nvPr/>
        </p:nvSpPr>
        <p:spPr>
          <a:xfrm>
            <a:off x="868680" y="2606040"/>
            <a:ext cx="3931920" cy="594360"/>
          </a:xfrm>
          <a:prstGeom prst="rect">
            <a:avLst/>
          </a:prstGeom>
          <a:noFill/>
          <a:ln/>
        </p:spPr>
        <p:txBody>
          <a:bodyPr wrap="square" lIns="0" tIns="0" rIns="0" bIns="0" rtlCol="0" anchor="ctr"/>
          <a:lstStyle/>
          <a:p>
            <a:pPr indent="0" marL="0">
              <a:buNone/>
            </a:pPr>
            <a:r>
              <a:rPr lang="en-US" sz="1700" b="1" dirty="0">
                <a:solidFill>
                  <a:srgbClr val="201A2E"/>
                </a:solidFill>
                <a:latin typeface="Arial" pitchFamily="34" charset="0"/>
                <a:ea typeface="Arial" pitchFamily="34" charset="-122"/>
                <a:cs typeface="Arial" pitchFamily="34" charset="-120"/>
              </a:rPr>
              <a:t>Coding agents transformed the IDE</a:t>
            </a:r>
            <a:endParaRPr lang="en-US" sz="1700" dirty="0"/>
          </a:p>
        </p:txBody>
      </p:sp>
      <p:sp>
        <p:nvSpPr>
          <p:cNvPr id="8" name="Text 5"/>
          <p:cNvSpPr/>
          <p:nvPr/>
        </p:nvSpPr>
        <p:spPr>
          <a:xfrm>
            <a:off x="868680" y="3246120"/>
            <a:ext cx="3931920" cy="1051560"/>
          </a:xfrm>
          <a:prstGeom prst="rect">
            <a:avLst/>
          </a:prstGeom>
          <a:noFill/>
          <a:ln/>
        </p:spPr>
        <p:txBody>
          <a:bodyPr wrap="square" lIns="0" tIns="0" rIns="0" bIns="0" rtlCol="0" anchor="ctr"/>
          <a:lstStyle/>
          <a:p>
            <a:pPr indent="0" marL="0">
              <a:lnSpc>
                <a:spcPts val="1800"/>
              </a:lnSpc>
              <a:buNone/>
            </a:pPr>
            <a:r>
              <a:rPr lang="en-US" sz="1300" dirty="0">
                <a:solidFill>
                  <a:srgbClr val="5A5170"/>
                </a:solidFill>
                <a:latin typeface="Arial" pitchFamily="34" charset="0"/>
                <a:ea typeface="Arial" pitchFamily="34" charset="-122"/>
                <a:cs typeface="Arial" pitchFamily="34" charset="-120"/>
              </a:rPr>
              <a:t>Claude Code, Cursor, Copilot — they know the repo, plan, implement, review, ship. But they know nothing about your PRDs, policies, or customers.</a:t>
            </a:r>
            <a:endParaRPr lang="en-US" sz="1300" dirty="0"/>
          </a:p>
        </p:txBody>
      </p:sp>
      <p:sp>
        <p:nvSpPr>
          <p:cNvPr id="9" name="Shape 6"/>
          <p:cNvSpPr/>
          <p:nvPr/>
        </p:nvSpPr>
        <p:spPr>
          <a:xfrm>
            <a:off x="7068312" y="1600200"/>
            <a:ext cx="4572000" cy="2834640"/>
          </a:xfrm>
          <a:prstGeom prst="roundRect">
            <a:avLst>
              <a:gd name="adj" fmla="val 2581"/>
            </a:avLst>
          </a:prstGeom>
          <a:solidFill>
            <a:srgbClr val="F1ED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7388352" y="1920240"/>
            <a:ext cx="548640" cy="548640"/>
          </a:xfrm>
          <a:prstGeom prst="ellipse">
            <a:avLst/>
          </a:prstGeom>
          <a:solidFill>
            <a:srgbClr val="6D4AEF"/>
          </a:solidFill>
          <a:ln/>
        </p:spPr>
      </p:sp>
      <p:pic>
        <p:nvPicPr>
          <p:cNvPr id="11" name="Image 1" descr="preencoded.png">    </p:cNvPr>
          <p:cNvPicPr>
            <a:picLocks noChangeAspect="1"/>
          </p:cNvPicPr>
          <p:nvPr/>
        </p:nvPicPr>
        <p:blipFill>
          <a:blip r:embed="rId2"/>
          <a:stretch>
            <a:fillRect/>
          </a:stretch>
        </p:blipFill>
        <p:spPr>
          <a:xfrm>
            <a:off x="7530998" y="2062886"/>
            <a:ext cx="263347" cy="263347"/>
          </a:xfrm>
          <a:prstGeom prst="rect">
            <a:avLst/>
          </a:prstGeom>
        </p:spPr>
      </p:pic>
      <p:sp>
        <p:nvSpPr>
          <p:cNvPr id="12" name="Text 8"/>
          <p:cNvSpPr/>
          <p:nvPr/>
        </p:nvSpPr>
        <p:spPr>
          <a:xfrm>
            <a:off x="7388352" y="2606040"/>
            <a:ext cx="3931920" cy="594360"/>
          </a:xfrm>
          <a:prstGeom prst="rect">
            <a:avLst/>
          </a:prstGeom>
          <a:noFill/>
          <a:ln/>
        </p:spPr>
        <p:txBody>
          <a:bodyPr wrap="square" lIns="0" tIns="0" rIns="0" bIns="0" rtlCol="0" anchor="ctr"/>
          <a:lstStyle/>
          <a:p>
            <a:pPr indent="0" marL="0">
              <a:buNone/>
            </a:pPr>
            <a:r>
              <a:rPr lang="en-US" sz="1700" b="1" dirty="0">
                <a:solidFill>
                  <a:srgbClr val="201A2E"/>
                </a:solidFill>
                <a:latin typeface="Arial" pitchFamily="34" charset="0"/>
                <a:ea typeface="Arial" pitchFamily="34" charset="-122"/>
                <a:cs typeface="Arial" pitchFamily="34" charset="-120"/>
              </a:rPr>
              <a:t>Knowledge agents transformed the business</a:t>
            </a:r>
            <a:endParaRPr lang="en-US" sz="1700" dirty="0"/>
          </a:p>
        </p:txBody>
      </p:sp>
      <p:sp>
        <p:nvSpPr>
          <p:cNvPr id="13" name="Text 9"/>
          <p:cNvSpPr/>
          <p:nvPr/>
        </p:nvSpPr>
        <p:spPr>
          <a:xfrm>
            <a:off x="7388352" y="3246120"/>
            <a:ext cx="3931920" cy="1051560"/>
          </a:xfrm>
          <a:prstGeom prst="rect">
            <a:avLst/>
          </a:prstGeom>
          <a:noFill/>
          <a:ln/>
        </p:spPr>
        <p:txBody>
          <a:bodyPr wrap="square" lIns="0" tIns="0" rIns="0" bIns="0" rtlCol="0" anchor="ctr"/>
          <a:lstStyle/>
          <a:p>
            <a:pPr indent="0" marL="0">
              <a:lnSpc>
                <a:spcPts val="1800"/>
              </a:lnSpc>
              <a:buNone/>
            </a:pPr>
            <a:r>
              <a:rPr lang="en-US" sz="1300" dirty="0">
                <a:solidFill>
                  <a:srgbClr val="5A5170"/>
                </a:solidFill>
                <a:latin typeface="Arial" pitchFamily="34" charset="0"/>
                <a:ea typeface="Arial" pitchFamily="34" charset="-122"/>
                <a:cs typeface="Arial" pitchFamily="34" charset="-120"/>
              </a:rPr>
              <a:t>raia agents trained on thousands of documents answer support, sales, and ops on every channel. But they know nothing about what's in the codebase — or what shipped yesterday.</a:t>
            </a:r>
            <a:endParaRPr lang="en-US" sz="1300" dirty="0"/>
          </a:p>
        </p:txBody>
      </p:sp>
      <p:sp>
        <p:nvSpPr>
          <p:cNvPr id="14" name="Shape 10"/>
          <p:cNvSpPr/>
          <p:nvPr/>
        </p:nvSpPr>
        <p:spPr>
          <a:xfrm>
            <a:off x="5440680" y="2788920"/>
            <a:ext cx="1307592" cy="0"/>
          </a:xfrm>
          <a:prstGeom prst="line">
            <a:avLst/>
          </a:prstGeom>
          <a:noFill/>
          <a:ln w="19050">
            <a:solidFill>
              <a:srgbClr val="5A5170"/>
            </a:solidFill>
            <a:prstDash val="dash"/>
          </a:ln>
        </p:spPr>
      </p:sp>
      <p:sp>
        <p:nvSpPr>
          <p:cNvPr id="15" name="Shape 11"/>
          <p:cNvSpPr/>
          <p:nvPr/>
        </p:nvSpPr>
        <p:spPr>
          <a:xfrm>
            <a:off x="5856732" y="2560320"/>
            <a:ext cx="475488" cy="47548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980359" y="2683947"/>
            <a:ext cx="228234" cy="228234"/>
          </a:xfrm>
          <a:prstGeom prst="rect">
            <a:avLst/>
          </a:prstGeom>
        </p:spPr>
      </p:pic>
      <p:sp>
        <p:nvSpPr>
          <p:cNvPr id="17" name="Text 12"/>
          <p:cNvSpPr/>
          <p:nvPr/>
        </p:nvSpPr>
        <p:spPr>
          <a:xfrm>
            <a:off x="4892040" y="3200400"/>
            <a:ext cx="2404872" cy="548640"/>
          </a:xfrm>
          <a:prstGeom prst="rect">
            <a:avLst/>
          </a:prstGeom>
          <a:noFill/>
          <a:ln/>
        </p:spPr>
        <p:txBody>
          <a:bodyPr wrap="square" lIns="0" tIns="0" rIns="0" bIns="0" rtlCol="0" anchor="ctr"/>
          <a:lstStyle/>
          <a:p>
            <a:pPr algn="ctr" indent="0" marL="0">
              <a:buNone/>
            </a:pPr>
            <a:r>
              <a:rPr lang="en-US" sz="1000" dirty="0">
                <a:solidFill>
                  <a:srgbClr val="5A5170"/>
                </a:solidFill>
                <a:latin typeface="Courier New" pitchFamily="34" charset="0"/>
                <a:ea typeface="Courier New" pitchFamily="34" charset="-122"/>
                <a:cs typeface="Courier New" pitchFamily="34" charset="-120"/>
              </a:rPr>
              <a:t>no learning</a:t>
            </a:r>
            <a:endParaRPr lang="en-US" sz="1000" dirty="0"/>
          </a:p>
          <a:p>
            <a:pPr algn="ctr" indent="0" marL="0">
              <a:buNone/>
            </a:pPr>
            <a:r>
              <a:rPr lang="en-US" sz="1000" dirty="0">
                <a:solidFill>
                  <a:srgbClr val="5A5170"/>
                </a:solidFill>
                <a:latin typeface="Courier New" pitchFamily="34" charset="0"/>
                <a:ea typeface="Courier New" pitchFamily="34" charset="-122"/>
                <a:cs typeface="Courier New" pitchFamily="34" charset="-120"/>
              </a:rPr>
              <a:t>between them</a:t>
            </a:r>
            <a:endParaRPr lang="en-US" sz="1000" dirty="0"/>
          </a:p>
        </p:txBody>
      </p:sp>
      <p:sp>
        <p:nvSpPr>
          <p:cNvPr id="18" name="Shape 13"/>
          <p:cNvSpPr/>
          <p:nvPr/>
        </p:nvSpPr>
        <p:spPr>
          <a:xfrm>
            <a:off x="548640" y="4800600"/>
            <a:ext cx="11091672" cy="1371600"/>
          </a:xfrm>
          <a:prstGeom prst="roundRect">
            <a:avLst>
              <a:gd name="adj" fmla="val 5333"/>
            </a:avLst>
          </a:prstGeom>
          <a:solidFill>
            <a:srgbClr val="F7F5FB"/>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9" name="Text 14"/>
          <p:cNvSpPr/>
          <p:nvPr/>
        </p:nvSpPr>
        <p:spPr>
          <a:xfrm>
            <a:off x="914400" y="4983480"/>
            <a:ext cx="10360152" cy="1005840"/>
          </a:xfrm>
          <a:prstGeom prst="rect">
            <a:avLst/>
          </a:prstGeom>
          <a:noFill/>
          <a:ln/>
        </p:spPr>
        <p:txBody>
          <a:bodyPr wrap="square" lIns="0" tIns="0" rIns="0" bIns="0" rtlCol="0" anchor="ctr"/>
          <a:lstStyle/>
          <a:p>
            <a:pPr indent="0" marL="0">
              <a:lnSpc>
                <a:spcPts val="2400"/>
              </a:lnSpc>
              <a:buNone/>
            </a:pPr>
            <a:r>
              <a:rPr lang="en-US" sz="1600" dirty="0">
                <a:solidFill>
                  <a:srgbClr val="201A2E"/>
                </a:solidFill>
                <a:latin typeface="Arial" pitchFamily="34" charset="0"/>
                <a:ea typeface="Arial" pitchFamily="34" charset="-122"/>
                <a:cs typeface="Arial" pitchFamily="34" charset="-120"/>
              </a:rPr>
              <a:t>What the PM knows lives in vector stores. What the codebase knows lives in git. </a:t>
            </a:r>
            <a:pPr indent="0" marL="0">
              <a:lnSpc>
                <a:spcPts val="2400"/>
              </a:lnSpc>
              <a:buNone/>
            </a:pPr>
            <a:r>
              <a:rPr lang="en-US" sz="1600" b="1" dirty="0">
                <a:solidFill>
                  <a:srgbClr val="C96442"/>
                </a:solidFill>
                <a:latin typeface="Arial" pitchFamily="34" charset="0"/>
                <a:ea typeface="Arial" pitchFamily="34" charset="-122"/>
                <a:cs typeface="Arial" pitchFamily="34" charset="-120"/>
              </a:rPr>
              <a:t>Neither system learns from the other automatically.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01 · THE PROBLEM</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What the gap costs, every week</a:t>
            </a:r>
            <a:endParaRPr lang="en-US" sz="3000" dirty="0"/>
          </a:p>
        </p:txBody>
      </p:sp>
      <p:sp>
        <p:nvSpPr>
          <p:cNvPr id="4" name="Shape 2"/>
          <p:cNvSpPr/>
          <p:nvPr/>
        </p:nvSpPr>
        <p:spPr>
          <a:xfrm>
            <a:off x="548640"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22960" y="1920240"/>
            <a:ext cx="457200" cy="457200"/>
          </a:xfrm>
          <a:prstGeom prst="ellipse">
            <a:avLst/>
          </a:prstGeom>
          <a:solidFill>
            <a:srgbClr val="F7F5FB"/>
          </a:solidFill>
          <a:ln/>
        </p:spPr>
      </p:sp>
      <p:pic>
        <p:nvPicPr>
          <p:cNvPr id="6" name="Image 0" descr="preencoded.png">    </p:cNvPr>
          <p:cNvPicPr>
            <a:picLocks noChangeAspect="1"/>
          </p:cNvPicPr>
          <p:nvPr/>
        </p:nvPicPr>
        <p:blipFill>
          <a:blip r:embed="rId1"/>
          <a:stretch>
            <a:fillRect/>
          </a:stretch>
        </p:blipFill>
        <p:spPr>
          <a:xfrm>
            <a:off x="941832" y="2039112"/>
            <a:ext cx="219456" cy="219456"/>
          </a:xfrm>
          <a:prstGeom prst="rect">
            <a:avLst/>
          </a:prstGeom>
        </p:spPr>
      </p:pic>
      <p:sp>
        <p:nvSpPr>
          <p:cNvPr id="7" name="Text 4"/>
          <p:cNvSpPr/>
          <p:nvPr/>
        </p:nvSpPr>
        <p:spPr>
          <a:xfrm>
            <a:off x="822960" y="2514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Interrupt-driven experts</a:t>
            </a:r>
            <a:endParaRPr lang="en-US" sz="1450" dirty="0"/>
          </a:p>
        </p:txBody>
      </p:sp>
      <p:sp>
        <p:nvSpPr>
          <p:cNvPr id="8" name="Text 5"/>
          <p:cNvSpPr/>
          <p:nvPr/>
        </p:nvSpPr>
        <p:spPr>
          <a:xfrm>
            <a:off x="822960" y="2852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Developers ping humans for domain answers; experts context-switch all day.</a:t>
            </a:r>
            <a:endParaRPr lang="en-US" sz="1150" dirty="0"/>
          </a:p>
        </p:txBody>
      </p:sp>
      <p:sp>
        <p:nvSpPr>
          <p:cNvPr id="9" name="Shape 6"/>
          <p:cNvSpPr/>
          <p:nvPr/>
        </p:nvSpPr>
        <p:spPr>
          <a:xfrm>
            <a:off x="4337304"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4611624" y="1920240"/>
            <a:ext cx="457200" cy="457200"/>
          </a:xfrm>
          <a:prstGeom prst="ellipse">
            <a:avLst/>
          </a:prstGeom>
          <a:solidFill>
            <a:srgbClr val="F7F5FB"/>
          </a:solidFill>
          <a:ln/>
        </p:spPr>
      </p:sp>
      <p:pic>
        <p:nvPicPr>
          <p:cNvPr id="11" name="Image 1" descr="preencoded.png">    </p:cNvPr>
          <p:cNvPicPr>
            <a:picLocks noChangeAspect="1"/>
          </p:cNvPicPr>
          <p:nvPr/>
        </p:nvPicPr>
        <p:blipFill>
          <a:blip r:embed="rId2"/>
          <a:stretch>
            <a:fillRect/>
          </a:stretch>
        </p:blipFill>
        <p:spPr>
          <a:xfrm>
            <a:off x="4730496" y="2039112"/>
            <a:ext cx="219456" cy="219456"/>
          </a:xfrm>
          <a:prstGeom prst="rect">
            <a:avLst/>
          </a:prstGeom>
        </p:spPr>
      </p:pic>
      <p:sp>
        <p:nvSpPr>
          <p:cNvPr id="12" name="Text 8"/>
          <p:cNvSpPr/>
          <p:nvPr/>
        </p:nvSpPr>
        <p:spPr>
          <a:xfrm>
            <a:off x="4611624" y="2514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Support lags releases</a:t>
            </a:r>
            <a:endParaRPr lang="en-US" sz="1450" dirty="0"/>
          </a:p>
        </p:txBody>
      </p:sp>
      <p:sp>
        <p:nvSpPr>
          <p:cNvPr id="13" name="Text 9"/>
          <p:cNvSpPr/>
          <p:nvPr/>
        </p:nvSpPr>
        <p:spPr>
          <a:xfrm>
            <a:off x="4611624" y="2852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Answers reflect the product as it was weeks ago — escalations spike after every ship.</a:t>
            </a:r>
            <a:endParaRPr lang="en-US" sz="1150" dirty="0"/>
          </a:p>
        </p:txBody>
      </p:sp>
      <p:sp>
        <p:nvSpPr>
          <p:cNvPr id="14" name="Shape 10"/>
          <p:cNvSpPr/>
          <p:nvPr/>
        </p:nvSpPr>
        <p:spPr>
          <a:xfrm>
            <a:off x="8125968"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Shape 11"/>
          <p:cNvSpPr/>
          <p:nvPr/>
        </p:nvSpPr>
        <p:spPr>
          <a:xfrm>
            <a:off x="8400288" y="1920240"/>
            <a:ext cx="457200" cy="457200"/>
          </a:xfrm>
          <a:prstGeom prst="ellipse">
            <a:avLst/>
          </a:prstGeom>
          <a:solidFill>
            <a:srgbClr val="F7F5FB"/>
          </a:solidFill>
          <a:ln/>
        </p:spPr>
      </p:sp>
      <p:pic>
        <p:nvPicPr>
          <p:cNvPr id="16" name="Image 2" descr="preencoded.png">    </p:cNvPr>
          <p:cNvPicPr>
            <a:picLocks noChangeAspect="1"/>
          </p:cNvPicPr>
          <p:nvPr/>
        </p:nvPicPr>
        <p:blipFill>
          <a:blip r:embed="rId3"/>
          <a:stretch>
            <a:fillRect/>
          </a:stretch>
        </p:blipFill>
        <p:spPr>
          <a:xfrm>
            <a:off x="8519160" y="2039112"/>
            <a:ext cx="219456" cy="219456"/>
          </a:xfrm>
          <a:prstGeom prst="rect">
            <a:avLst/>
          </a:prstGeom>
        </p:spPr>
      </p:pic>
      <p:sp>
        <p:nvSpPr>
          <p:cNvPr id="17" name="Text 12"/>
          <p:cNvSpPr/>
          <p:nvPr/>
        </p:nvSpPr>
        <p:spPr>
          <a:xfrm>
            <a:off x="8400288" y="2514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Docs perpetually behind</a:t>
            </a:r>
            <a:endParaRPr lang="en-US" sz="1450" dirty="0"/>
          </a:p>
        </p:txBody>
      </p:sp>
      <p:sp>
        <p:nvSpPr>
          <p:cNvPr id="18" name="Text 13"/>
          <p:cNvSpPr/>
          <p:nvPr/>
        </p:nvSpPr>
        <p:spPr>
          <a:xfrm>
            <a:off x="8400288" y="2852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Documentation is a separate chore, so it loses to feature work every sprint.</a:t>
            </a:r>
            <a:endParaRPr lang="en-US" sz="1150" dirty="0"/>
          </a:p>
        </p:txBody>
      </p:sp>
      <p:sp>
        <p:nvSpPr>
          <p:cNvPr id="19" name="Shape 14"/>
          <p:cNvSpPr/>
          <p:nvPr/>
        </p:nvSpPr>
        <p:spPr>
          <a:xfrm>
            <a:off x="548640" y="3931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0" name="Shape 15"/>
          <p:cNvSpPr/>
          <p:nvPr/>
        </p:nvSpPr>
        <p:spPr>
          <a:xfrm>
            <a:off x="822960" y="4206240"/>
            <a:ext cx="457200" cy="457200"/>
          </a:xfrm>
          <a:prstGeom prst="ellipse">
            <a:avLst/>
          </a:prstGeom>
          <a:solidFill>
            <a:srgbClr val="F7F5FB"/>
          </a:solidFill>
          <a:ln/>
        </p:spPr>
      </p:sp>
      <p:pic>
        <p:nvPicPr>
          <p:cNvPr id="21" name="Image 3" descr="preencoded.png">    </p:cNvPr>
          <p:cNvPicPr>
            <a:picLocks noChangeAspect="1"/>
          </p:cNvPicPr>
          <p:nvPr/>
        </p:nvPicPr>
        <p:blipFill>
          <a:blip r:embed="rId4"/>
          <a:stretch>
            <a:fillRect/>
          </a:stretch>
        </p:blipFill>
        <p:spPr>
          <a:xfrm>
            <a:off x="941832" y="4325112"/>
            <a:ext cx="219456" cy="219456"/>
          </a:xfrm>
          <a:prstGeom prst="rect">
            <a:avLst/>
          </a:prstGeom>
        </p:spPr>
      </p:pic>
      <p:sp>
        <p:nvSpPr>
          <p:cNvPr id="22" name="Text 16"/>
          <p:cNvSpPr/>
          <p:nvPr/>
        </p:nvSpPr>
        <p:spPr>
          <a:xfrm>
            <a:off x="822960" y="4800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Status by standup</a:t>
            </a:r>
            <a:endParaRPr lang="en-US" sz="1450" dirty="0"/>
          </a:p>
        </p:txBody>
      </p:sp>
      <p:sp>
        <p:nvSpPr>
          <p:cNvPr id="23" name="Text 17"/>
          <p:cNvSpPr/>
          <p:nvPr/>
        </p:nvSpPr>
        <p:spPr>
          <a:xfrm>
            <a:off x="822960" y="5138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PMs chase progress in meetings instead of reading it on demand.</a:t>
            </a:r>
            <a:endParaRPr lang="en-US" sz="1150" dirty="0"/>
          </a:p>
        </p:txBody>
      </p:sp>
      <p:sp>
        <p:nvSpPr>
          <p:cNvPr id="24" name="Shape 18"/>
          <p:cNvSpPr/>
          <p:nvPr/>
        </p:nvSpPr>
        <p:spPr>
          <a:xfrm>
            <a:off x="4337304" y="3931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5" name="Shape 19"/>
          <p:cNvSpPr/>
          <p:nvPr/>
        </p:nvSpPr>
        <p:spPr>
          <a:xfrm>
            <a:off x="4611624" y="4206240"/>
            <a:ext cx="457200" cy="457200"/>
          </a:xfrm>
          <a:prstGeom prst="ellipse">
            <a:avLst/>
          </a:prstGeom>
          <a:solidFill>
            <a:srgbClr val="F7F5FB"/>
          </a:solidFill>
          <a:ln/>
        </p:spPr>
      </p:sp>
      <p:pic>
        <p:nvPicPr>
          <p:cNvPr id="26" name="Image 4" descr="preencoded.png">    </p:cNvPr>
          <p:cNvPicPr>
            <a:picLocks noChangeAspect="1"/>
          </p:cNvPicPr>
          <p:nvPr/>
        </p:nvPicPr>
        <p:blipFill>
          <a:blip r:embed="rId5"/>
          <a:stretch>
            <a:fillRect/>
          </a:stretch>
        </p:blipFill>
        <p:spPr>
          <a:xfrm>
            <a:off x="4730496" y="4325112"/>
            <a:ext cx="219456" cy="219456"/>
          </a:xfrm>
          <a:prstGeom prst="rect">
            <a:avLst/>
          </a:prstGeom>
        </p:spPr>
      </p:pic>
      <p:sp>
        <p:nvSpPr>
          <p:cNvPr id="27" name="Text 20"/>
          <p:cNvSpPr/>
          <p:nvPr/>
        </p:nvSpPr>
        <p:spPr>
          <a:xfrm>
            <a:off x="4611624" y="4800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Slow onboarding</a:t>
            </a:r>
            <a:endParaRPr lang="en-US" sz="1450" dirty="0"/>
          </a:p>
        </p:txBody>
      </p:sp>
      <p:sp>
        <p:nvSpPr>
          <p:cNvPr id="28" name="Text 21"/>
          <p:cNvSpPr/>
          <p:nvPr/>
        </p:nvSpPr>
        <p:spPr>
          <a:xfrm>
            <a:off x="4611624" y="5138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Tribal knowledge takes new hires months to absorb — none of it is queryable.</a:t>
            </a:r>
            <a:endParaRPr lang="en-US" sz="1150" dirty="0"/>
          </a:p>
        </p:txBody>
      </p:sp>
      <p:sp>
        <p:nvSpPr>
          <p:cNvPr id="29" name="Shape 22"/>
          <p:cNvSpPr/>
          <p:nvPr/>
        </p:nvSpPr>
        <p:spPr>
          <a:xfrm>
            <a:off x="8125968" y="3931920"/>
            <a:ext cx="3514344" cy="1965960"/>
          </a:xfrm>
          <a:prstGeom prst="roundRect">
            <a:avLst>
              <a:gd name="adj" fmla="val 3721"/>
            </a:avLst>
          </a:prstGeom>
          <a:solidFill>
            <a:srgbClr val="F9F1DE"/>
          </a:solidFill>
          <a:ln w="12700">
            <a:solidFill>
              <a:srgbClr val="B07C1F"/>
            </a:solidFill>
            <a:prstDash val="solid"/>
          </a:ln>
          <a:effectLst>
            <a:outerShdw sx="100000" sy="100000" kx="0" ky="0" algn="bl" rotWithShape="0" blurRad="76200" dist="12700" dir="5400000">
              <a:srgbClr val="B4ABCE">
                <a:alpha val="28000"/>
              </a:srgbClr>
            </a:outerShdw>
          </a:effectLst>
        </p:spPr>
      </p:sp>
      <p:sp>
        <p:nvSpPr>
          <p:cNvPr id="30" name="Shape 23"/>
          <p:cNvSpPr/>
          <p:nvPr/>
        </p:nvSpPr>
        <p:spPr>
          <a:xfrm>
            <a:off x="8400288" y="4206240"/>
            <a:ext cx="457200" cy="457200"/>
          </a:xfrm>
          <a:prstGeom prst="ellipse">
            <a:avLst/>
          </a:prstGeom>
          <a:solidFill>
            <a:srgbClr val="F3E3BC"/>
          </a:solidFill>
          <a:ln/>
        </p:spPr>
      </p:sp>
      <p:pic>
        <p:nvPicPr>
          <p:cNvPr id="31" name="Image 5" descr="preencoded.png">    </p:cNvPr>
          <p:cNvPicPr>
            <a:picLocks noChangeAspect="1"/>
          </p:cNvPicPr>
          <p:nvPr/>
        </p:nvPicPr>
        <p:blipFill>
          <a:blip r:embed="rId6"/>
          <a:stretch>
            <a:fillRect/>
          </a:stretch>
        </p:blipFill>
        <p:spPr>
          <a:xfrm>
            <a:off x="8519160" y="4325112"/>
            <a:ext cx="219456" cy="219456"/>
          </a:xfrm>
          <a:prstGeom prst="rect">
            <a:avLst/>
          </a:prstGeom>
        </p:spPr>
      </p:pic>
      <p:sp>
        <p:nvSpPr>
          <p:cNvPr id="32" name="Text 24"/>
          <p:cNvSpPr/>
          <p:nvPr/>
        </p:nvSpPr>
        <p:spPr>
          <a:xfrm>
            <a:off x="8400288" y="4800600"/>
            <a:ext cx="2965704" cy="320040"/>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Your numbers here</a:t>
            </a:r>
            <a:endParaRPr lang="en-US" sz="1450" dirty="0"/>
          </a:p>
        </p:txBody>
      </p:sp>
      <p:sp>
        <p:nvSpPr>
          <p:cNvPr id="33" name="Text 25"/>
          <p:cNvSpPr/>
          <p:nvPr/>
        </p:nvSpPr>
        <p:spPr>
          <a:xfrm>
            <a:off x="8400288" y="5138928"/>
            <a:ext cx="2965704" cy="713232"/>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Put 2–3 real figures on this slide: interrupts/week, docs lag, escalation rate.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02 · THE THESIS</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One closed loop</a:t>
            </a:r>
            <a:endParaRPr lang="en-US" sz="3000" dirty="0"/>
          </a:p>
        </p:txBody>
      </p:sp>
      <p:sp>
        <p:nvSpPr>
          <p:cNvPr id="4" name="Text 2"/>
          <p:cNvSpPr/>
          <p:nvPr/>
        </p:nvSpPr>
        <p:spPr>
          <a:xfrm>
            <a:off x="548640" y="1783080"/>
            <a:ext cx="11091672" cy="1737360"/>
          </a:xfrm>
          <a:prstGeom prst="rect">
            <a:avLst/>
          </a:prstGeom>
          <a:noFill/>
          <a:ln/>
        </p:spPr>
        <p:txBody>
          <a:bodyPr wrap="square" lIns="0" tIns="0" rIns="0" bIns="0" rtlCol="0" anchor="ctr"/>
          <a:lstStyle/>
          <a:p>
            <a:pPr algn="ctr" indent="0" marL="0">
              <a:lnSpc>
                <a:spcPts val="4600"/>
              </a:lnSpc>
              <a:buNone/>
            </a:pPr>
            <a:r>
              <a:rPr lang="en-US" sz="3300" b="1" dirty="0">
                <a:solidFill>
                  <a:srgbClr val="6D4AEF"/>
                </a:solidFill>
                <a:latin typeface="Arial" pitchFamily="34" charset="0"/>
                <a:ea typeface="Arial" pitchFamily="34" charset="-122"/>
                <a:cs typeface="Arial" pitchFamily="34" charset="-120"/>
              </a:rPr>
              <a:t>Agents brief the code.</a:t>
            </a:r>
            <a:endParaRPr lang="en-US" sz="3300" dirty="0"/>
          </a:p>
          <a:p>
            <a:pPr algn="ctr" indent="0" marL="0">
              <a:lnSpc>
                <a:spcPts val="4600"/>
              </a:lnSpc>
              <a:buNone/>
            </a:pPr>
            <a:r>
              <a:rPr lang="en-US" sz="3300" b="1" dirty="0">
                <a:solidFill>
                  <a:srgbClr val="2E8B6A"/>
                </a:solidFill>
                <a:latin typeface="Arial" pitchFamily="34" charset="0"/>
                <a:ea typeface="Arial" pitchFamily="34" charset="-122"/>
                <a:cs typeface="Arial" pitchFamily="34" charset="-120"/>
              </a:rPr>
              <a:t>Shipped code retrains the agents.</a:t>
            </a:r>
            <a:endParaRPr lang="en-US" sz="3300" dirty="0"/>
          </a:p>
        </p:txBody>
      </p:sp>
      <p:sp>
        <p:nvSpPr>
          <p:cNvPr id="5" name="Shape 3"/>
          <p:cNvSpPr/>
          <p:nvPr/>
        </p:nvSpPr>
        <p:spPr>
          <a:xfrm>
            <a:off x="868680" y="3931920"/>
            <a:ext cx="4892040" cy="1828800"/>
          </a:xfrm>
          <a:prstGeom prst="roundRect">
            <a:avLst>
              <a:gd name="adj" fmla="val 4000"/>
            </a:avLst>
          </a:prstGeom>
          <a:solidFill>
            <a:srgbClr val="F1ED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6" name="Shape 4"/>
          <p:cNvSpPr/>
          <p:nvPr/>
        </p:nvSpPr>
        <p:spPr>
          <a:xfrm>
            <a:off x="1188720" y="4206240"/>
            <a:ext cx="475488" cy="475488"/>
          </a:xfrm>
          <a:prstGeom prst="ellipse">
            <a:avLst/>
          </a:prstGeom>
          <a:solidFill>
            <a:srgbClr val="6D4AEF"/>
          </a:solidFill>
          <a:ln/>
        </p:spPr>
      </p:sp>
      <p:pic>
        <p:nvPicPr>
          <p:cNvPr id="7" name="Image 0" descr="preencoded.png">    </p:cNvPr>
          <p:cNvPicPr>
            <a:picLocks noChangeAspect="1"/>
          </p:cNvPicPr>
          <p:nvPr/>
        </p:nvPicPr>
        <p:blipFill>
          <a:blip r:embed="rId1"/>
          <a:stretch>
            <a:fillRect/>
          </a:stretch>
        </p:blipFill>
        <p:spPr>
          <a:xfrm>
            <a:off x="1312347" y="4329867"/>
            <a:ext cx="228234" cy="228234"/>
          </a:xfrm>
          <a:prstGeom prst="rect">
            <a:avLst/>
          </a:prstGeom>
        </p:spPr>
      </p:pic>
      <p:sp>
        <p:nvSpPr>
          <p:cNvPr id="8" name="Text 5"/>
          <p:cNvSpPr/>
          <p:nvPr/>
        </p:nvSpPr>
        <p:spPr>
          <a:xfrm>
            <a:off x="1828800" y="4160520"/>
            <a:ext cx="3291840" cy="1463040"/>
          </a:xfrm>
          <a:prstGeom prst="rect">
            <a:avLst/>
          </a:prstGeom>
          <a:noFill/>
          <a:ln/>
        </p:spPr>
        <p:txBody>
          <a:bodyPr wrap="square" lIns="0" tIns="0" rIns="0" bIns="0" rtlCol="0" anchor="ctr"/>
          <a:lstStyle/>
          <a:p>
            <a:pPr indent="0" marL="0">
              <a:lnSpc>
                <a:spcPts val="1550"/>
              </a:lnSpc>
              <a:buNone/>
            </a:pPr>
            <a:r>
              <a:rPr lang="en-US" sz="1500" b="1" dirty="0">
                <a:solidFill>
                  <a:srgbClr val="201A2E"/>
                </a:solidFill>
                <a:latin typeface="Arial" pitchFamily="34" charset="0"/>
                <a:ea typeface="Arial" pitchFamily="34" charset="-122"/>
                <a:cs typeface="Arial" pitchFamily="34" charset="-120"/>
              </a:rPr>
              <a:t>raia — the brain</a:t>
            </a:r>
            <a:endParaRPr lang="en-US" sz="15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Centralized agents trained on large document volumes in raia Command, reachable from every surface: Copilot, Live Chat, Teams, browser extension, MCP, API.</a:t>
            </a:r>
            <a:endParaRPr lang="en-US" sz="1500" dirty="0"/>
          </a:p>
        </p:txBody>
      </p:sp>
      <p:sp>
        <p:nvSpPr>
          <p:cNvPr id="9" name="Shape 6"/>
          <p:cNvSpPr/>
          <p:nvPr/>
        </p:nvSpPr>
        <p:spPr>
          <a:xfrm>
            <a:off x="6428232" y="3931920"/>
            <a:ext cx="4892040" cy="1828800"/>
          </a:xfrm>
          <a:prstGeom prst="roundRect">
            <a:avLst>
              <a:gd name="adj" fmla="val 4000"/>
            </a:avLst>
          </a:prstGeom>
          <a:solidFill>
            <a:srgbClr val="FBEFE9"/>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6748272" y="4206240"/>
            <a:ext cx="475488" cy="475488"/>
          </a:xfrm>
          <a:prstGeom prst="ellipse">
            <a:avLst/>
          </a:prstGeom>
          <a:solidFill>
            <a:srgbClr val="C96442"/>
          </a:solidFill>
          <a:ln/>
        </p:spPr>
      </p:sp>
      <p:pic>
        <p:nvPicPr>
          <p:cNvPr id="11" name="Image 1" descr="preencoded.png">    </p:cNvPr>
          <p:cNvPicPr>
            <a:picLocks noChangeAspect="1"/>
          </p:cNvPicPr>
          <p:nvPr/>
        </p:nvPicPr>
        <p:blipFill>
          <a:blip r:embed="rId2"/>
          <a:stretch>
            <a:fillRect/>
          </a:stretch>
        </p:blipFill>
        <p:spPr>
          <a:xfrm>
            <a:off x="6871899" y="4329867"/>
            <a:ext cx="228234" cy="228234"/>
          </a:xfrm>
          <a:prstGeom prst="rect">
            <a:avLst/>
          </a:prstGeom>
        </p:spPr>
      </p:pic>
      <p:sp>
        <p:nvSpPr>
          <p:cNvPr id="12" name="Text 8"/>
          <p:cNvSpPr/>
          <p:nvPr/>
        </p:nvSpPr>
        <p:spPr>
          <a:xfrm>
            <a:off x="7388352" y="4160520"/>
            <a:ext cx="3291840" cy="1463040"/>
          </a:xfrm>
          <a:prstGeom prst="rect">
            <a:avLst/>
          </a:prstGeom>
          <a:noFill/>
          <a:ln/>
        </p:spPr>
        <p:txBody>
          <a:bodyPr wrap="square" lIns="0" tIns="0" rIns="0" bIns="0" rtlCol="0" anchor="ctr"/>
          <a:lstStyle/>
          <a:p>
            <a:pPr indent="0" marL="0">
              <a:lnSpc>
                <a:spcPts val="1550"/>
              </a:lnSpc>
              <a:buNone/>
            </a:pPr>
            <a:r>
              <a:rPr lang="en-US" sz="1500" b="1" dirty="0">
                <a:solidFill>
                  <a:srgbClr val="201A2E"/>
                </a:solidFill>
                <a:latin typeface="Arial" pitchFamily="34" charset="0"/>
                <a:ea typeface="Arial" pitchFamily="34" charset="-122"/>
                <a:cs typeface="Arial" pitchFamily="34" charset="-120"/>
              </a:rPr>
              <a:t>Coding agent — the hands</a:t>
            </a:r>
            <a:endParaRPr lang="en-US" sz="15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Claude Code or any MCP-capable equivalent: plans, implements, tests, reviews, and ships inside the actual repository — CLI, IDE, and headless CI.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02 · THE MECHANICS</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Four wires connect the two sides</a:t>
            </a:r>
            <a:endParaRPr lang="en-US" sz="3000" dirty="0"/>
          </a:p>
        </p:txBody>
      </p:sp>
      <p:sp>
        <p:nvSpPr>
          <p:cNvPr id="4" name="Text 2"/>
          <p:cNvSpPr/>
          <p:nvPr/>
        </p:nvSpPr>
        <p:spPr>
          <a:xfrm>
            <a:off x="548640" y="1481328"/>
            <a:ext cx="3291840" cy="256032"/>
          </a:xfrm>
          <a:prstGeom prst="rect">
            <a:avLst/>
          </a:prstGeom>
          <a:noFill/>
          <a:ln/>
        </p:spPr>
        <p:txBody>
          <a:bodyPr wrap="square" lIns="0" tIns="0" rIns="0" bIns="0" rtlCol="0" anchor="ctr"/>
          <a:lstStyle/>
          <a:p>
            <a:pPr algn="ctr" indent="0" marL="0">
              <a:buNone/>
            </a:pPr>
            <a:r>
              <a:rPr lang="en-US" sz="1000" spc="200" kern="0" dirty="0">
                <a:solidFill>
                  <a:srgbClr val="6D4AEF"/>
                </a:solidFill>
                <a:latin typeface="Courier New" pitchFamily="34" charset="0"/>
                <a:ea typeface="Courier New" pitchFamily="34" charset="-122"/>
                <a:cs typeface="Courier New" pitchFamily="34" charset="-120"/>
              </a:rPr>
              <a:t>RAIA PLATFORM</a:t>
            </a:r>
            <a:endParaRPr lang="en-US" sz="1000" dirty="0"/>
          </a:p>
        </p:txBody>
      </p:sp>
      <p:sp>
        <p:nvSpPr>
          <p:cNvPr id="5" name="Text 3"/>
          <p:cNvSpPr/>
          <p:nvPr/>
        </p:nvSpPr>
        <p:spPr>
          <a:xfrm>
            <a:off x="8348472" y="1481328"/>
            <a:ext cx="3291840" cy="256032"/>
          </a:xfrm>
          <a:prstGeom prst="rect">
            <a:avLst/>
          </a:prstGeom>
          <a:noFill/>
          <a:ln/>
        </p:spPr>
        <p:txBody>
          <a:bodyPr wrap="square" lIns="0" tIns="0" rIns="0" bIns="0" rtlCol="0" anchor="ctr"/>
          <a:lstStyle/>
          <a:p>
            <a:pPr algn="ctr" indent="0" marL="0">
              <a:buNone/>
            </a:pPr>
            <a:r>
              <a:rPr lang="en-US" sz="1000" spc="200" kern="0" dirty="0">
                <a:solidFill>
                  <a:srgbClr val="C96442"/>
                </a:solidFill>
                <a:latin typeface="Courier New" pitchFamily="34" charset="0"/>
                <a:ea typeface="Courier New" pitchFamily="34" charset="-122"/>
                <a:cs typeface="Courier New" pitchFamily="34" charset="-120"/>
              </a:rPr>
              <a:t>DEV TOOLCHAIN</a:t>
            </a:r>
            <a:endParaRPr lang="en-US" sz="1000" dirty="0"/>
          </a:p>
        </p:txBody>
      </p:sp>
      <p:sp>
        <p:nvSpPr>
          <p:cNvPr id="6" name="Shape 4"/>
          <p:cNvSpPr/>
          <p:nvPr/>
        </p:nvSpPr>
        <p:spPr>
          <a:xfrm>
            <a:off x="548640" y="1810512"/>
            <a:ext cx="3291840" cy="960120"/>
          </a:xfrm>
          <a:prstGeom prst="roundRect">
            <a:avLst>
              <a:gd name="adj" fmla="val 7619"/>
            </a:avLst>
          </a:prstGeom>
          <a:solidFill>
            <a:srgbClr val="FFFF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7" name="Text 5"/>
          <p:cNvSpPr/>
          <p:nvPr/>
        </p:nvSpPr>
        <p:spPr>
          <a:xfrm>
            <a:off x="777240" y="1938528"/>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Knowledge agents</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Codebase · Product · Support</a:t>
            </a:r>
            <a:endParaRPr lang="en-US" sz="1350" dirty="0"/>
          </a:p>
        </p:txBody>
      </p:sp>
      <p:sp>
        <p:nvSpPr>
          <p:cNvPr id="8" name="Shape 6"/>
          <p:cNvSpPr/>
          <p:nvPr/>
        </p:nvSpPr>
        <p:spPr>
          <a:xfrm>
            <a:off x="548640" y="2926080"/>
            <a:ext cx="3291840" cy="960120"/>
          </a:xfrm>
          <a:prstGeom prst="roundRect">
            <a:avLst>
              <a:gd name="adj" fmla="val 7619"/>
            </a:avLst>
          </a:prstGeom>
          <a:solidFill>
            <a:srgbClr val="FFFF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9" name="Text 7"/>
          <p:cNvSpPr/>
          <p:nvPr/>
        </p:nvSpPr>
        <p:spPr>
          <a:xfrm>
            <a:off x="777240" y="3054096"/>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raia Command</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vector stores · connectors · MCP</a:t>
            </a:r>
            <a:endParaRPr lang="en-US" sz="1350" dirty="0"/>
          </a:p>
        </p:txBody>
      </p:sp>
      <p:sp>
        <p:nvSpPr>
          <p:cNvPr id="10" name="Shape 8"/>
          <p:cNvSpPr/>
          <p:nvPr/>
        </p:nvSpPr>
        <p:spPr>
          <a:xfrm>
            <a:off x="548640" y="4041648"/>
            <a:ext cx="3291840" cy="960120"/>
          </a:xfrm>
          <a:prstGeom prst="roundRect">
            <a:avLst>
              <a:gd name="adj" fmla="val 7619"/>
            </a:avLst>
          </a:prstGeom>
          <a:solidFill>
            <a:srgbClr val="FFFF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11" name="Text 9"/>
          <p:cNvSpPr/>
          <p:nvPr/>
        </p:nvSpPr>
        <p:spPr>
          <a:xfrm>
            <a:off x="777240" y="4169664"/>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raia Copilot</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simulate · supervise · rate</a:t>
            </a:r>
            <a:endParaRPr lang="en-US" sz="1350" dirty="0"/>
          </a:p>
        </p:txBody>
      </p:sp>
      <p:sp>
        <p:nvSpPr>
          <p:cNvPr id="12" name="Shape 10"/>
          <p:cNvSpPr/>
          <p:nvPr/>
        </p:nvSpPr>
        <p:spPr>
          <a:xfrm>
            <a:off x="548640" y="5157216"/>
            <a:ext cx="3291840" cy="960120"/>
          </a:xfrm>
          <a:prstGeom prst="roundRect">
            <a:avLst>
              <a:gd name="adj" fmla="val 7619"/>
            </a:avLst>
          </a:prstGeom>
          <a:solidFill>
            <a:srgbClr val="FFFFFF"/>
          </a:solidFill>
          <a:ln w="12700">
            <a:solidFill>
              <a:srgbClr val="6D4AEF"/>
            </a:solidFill>
            <a:prstDash val="solid"/>
          </a:ln>
          <a:effectLst>
            <a:outerShdw sx="100000" sy="100000" kx="0" ky="0" algn="bl" rotWithShape="0" blurRad="76200" dist="12700" dir="5400000">
              <a:srgbClr val="B4ABCE">
                <a:alpha val="28000"/>
              </a:srgbClr>
            </a:outerShdw>
          </a:effectLst>
        </p:spPr>
      </p:sp>
      <p:sp>
        <p:nvSpPr>
          <p:cNvPr id="13" name="Text 11"/>
          <p:cNvSpPr/>
          <p:nvPr/>
        </p:nvSpPr>
        <p:spPr>
          <a:xfrm>
            <a:off x="777240" y="5285232"/>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Chat + Control</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customer signal intake</a:t>
            </a:r>
            <a:endParaRPr lang="en-US" sz="1350" dirty="0"/>
          </a:p>
        </p:txBody>
      </p:sp>
      <p:sp>
        <p:nvSpPr>
          <p:cNvPr id="14" name="Shape 12"/>
          <p:cNvSpPr/>
          <p:nvPr/>
        </p:nvSpPr>
        <p:spPr>
          <a:xfrm>
            <a:off x="8348472" y="1810512"/>
            <a:ext cx="3291840" cy="960120"/>
          </a:xfrm>
          <a:prstGeom prst="roundRect">
            <a:avLst>
              <a:gd name="adj" fmla="val 7619"/>
            </a:avLst>
          </a:prstGeom>
          <a:solidFill>
            <a:srgbClr val="FFFFFF"/>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15" name="Text 13"/>
          <p:cNvSpPr/>
          <p:nvPr/>
        </p:nvSpPr>
        <p:spPr>
          <a:xfrm>
            <a:off x="8577072" y="1938528"/>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Claude Code</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CLI · IDE · web · headless</a:t>
            </a:r>
            <a:endParaRPr lang="en-US" sz="1350" dirty="0"/>
          </a:p>
        </p:txBody>
      </p:sp>
      <p:sp>
        <p:nvSpPr>
          <p:cNvPr id="16" name="Shape 14"/>
          <p:cNvSpPr/>
          <p:nvPr/>
        </p:nvSpPr>
        <p:spPr>
          <a:xfrm>
            <a:off x="8348472" y="2926080"/>
            <a:ext cx="3291840" cy="960120"/>
          </a:xfrm>
          <a:prstGeom prst="roundRect">
            <a:avLst>
              <a:gd name="adj" fmla="val 7619"/>
            </a:avLst>
          </a:prstGeom>
          <a:solidFill>
            <a:srgbClr val="FFFFFF"/>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17" name="Text 15"/>
          <p:cNvSpPr/>
          <p:nvPr/>
        </p:nvSpPr>
        <p:spPr>
          <a:xfrm>
            <a:off x="8577072" y="3054096"/>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GitHub</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repos · issues · PRs · Actions</a:t>
            </a:r>
            <a:endParaRPr lang="en-US" sz="1350" dirty="0"/>
          </a:p>
        </p:txBody>
      </p:sp>
      <p:sp>
        <p:nvSpPr>
          <p:cNvPr id="18" name="Shape 16"/>
          <p:cNvSpPr/>
          <p:nvPr/>
        </p:nvSpPr>
        <p:spPr>
          <a:xfrm>
            <a:off x="8348472" y="4041648"/>
            <a:ext cx="3291840" cy="960120"/>
          </a:xfrm>
          <a:prstGeom prst="roundRect">
            <a:avLst>
              <a:gd name="adj" fmla="val 7619"/>
            </a:avLst>
          </a:prstGeom>
          <a:solidFill>
            <a:srgbClr val="FFFFFF"/>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19" name="Text 17"/>
          <p:cNvSpPr/>
          <p:nvPr/>
        </p:nvSpPr>
        <p:spPr>
          <a:xfrm>
            <a:off x="8577072" y="4169664"/>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CI / CD</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checks · docs · knowledge push</a:t>
            </a:r>
            <a:endParaRPr lang="en-US" sz="1350" dirty="0"/>
          </a:p>
        </p:txBody>
      </p:sp>
      <p:sp>
        <p:nvSpPr>
          <p:cNvPr id="20" name="Shape 18"/>
          <p:cNvSpPr/>
          <p:nvPr/>
        </p:nvSpPr>
        <p:spPr>
          <a:xfrm>
            <a:off x="8348472" y="5157216"/>
            <a:ext cx="3291840" cy="960120"/>
          </a:xfrm>
          <a:prstGeom prst="roundRect">
            <a:avLst>
              <a:gd name="adj" fmla="val 7619"/>
            </a:avLst>
          </a:prstGeom>
          <a:solidFill>
            <a:srgbClr val="FFFFFF"/>
          </a:solidFill>
          <a:ln w="12700">
            <a:solidFill>
              <a:srgbClr val="C96442"/>
            </a:solidFill>
            <a:prstDash val="solid"/>
          </a:ln>
          <a:effectLst>
            <a:outerShdw sx="100000" sy="100000" kx="0" ky="0" algn="bl" rotWithShape="0" blurRad="76200" dist="12700" dir="5400000">
              <a:srgbClr val="B4ABCE">
                <a:alpha val="28000"/>
              </a:srgbClr>
            </a:outerShdw>
          </a:effectLst>
        </p:spPr>
      </p:sp>
      <p:sp>
        <p:nvSpPr>
          <p:cNvPr id="21" name="Text 19"/>
          <p:cNvSpPr/>
          <p:nvPr/>
        </p:nvSpPr>
        <p:spPr>
          <a:xfrm>
            <a:off x="8577072" y="5285232"/>
            <a:ext cx="2834640" cy="731520"/>
          </a:xfrm>
          <a:prstGeom prst="rect">
            <a:avLst/>
          </a:prstGeom>
          <a:noFill/>
          <a:ln/>
        </p:spPr>
        <p:txBody>
          <a:bodyPr wrap="square" lIns="0" tIns="0" rIns="0" bIns="0" rtlCol="0" anchor="ctr"/>
          <a:lstStyle/>
          <a:p>
            <a:pPr indent="0" marL="0">
              <a:lnSpc>
                <a:spcPts val="1500"/>
              </a:lnSpc>
              <a:buNone/>
            </a:pPr>
            <a:r>
              <a:rPr lang="en-US" sz="1350" b="1" dirty="0">
                <a:solidFill>
                  <a:srgbClr val="201A2E"/>
                </a:solidFill>
                <a:latin typeface="Arial" pitchFamily="34" charset="0"/>
                <a:ea typeface="Arial" pitchFamily="34" charset="-122"/>
                <a:cs typeface="Arial" pitchFamily="34" charset="-120"/>
              </a:rPr>
              <a:t>Tracker</a:t>
            </a:r>
            <a:endParaRPr lang="en-US" sz="1350" dirty="0"/>
          </a:p>
          <a:p>
            <a:pPr indent="0" marL="0">
              <a:lnSpc>
                <a:spcPts val="1500"/>
              </a:lnSpc>
              <a:buNone/>
            </a:pPr>
            <a:r>
              <a:rPr lang="en-US" sz="1050" dirty="0">
                <a:solidFill>
                  <a:srgbClr val="5A5170"/>
                </a:solidFill>
                <a:latin typeface="Arial" pitchFamily="34" charset="0"/>
                <a:ea typeface="Arial" pitchFamily="34" charset="-122"/>
                <a:cs typeface="Arial" pitchFamily="34" charset="-120"/>
              </a:rPr>
              <a:t>Jira / Linear backlog</a:t>
            </a:r>
            <a:endParaRPr lang="en-US" sz="1350" dirty="0"/>
          </a:p>
        </p:txBody>
      </p:sp>
      <p:sp>
        <p:nvSpPr>
          <p:cNvPr id="22" name="Shape 20"/>
          <p:cNvSpPr/>
          <p:nvPr/>
        </p:nvSpPr>
        <p:spPr>
          <a:xfrm>
            <a:off x="4206240" y="1810512"/>
            <a:ext cx="3776472" cy="960120"/>
          </a:xfrm>
          <a:prstGeom prst="roundRect">
            <a:avLst>
              <a:gd name="adj" fmla="val 7619"/>
            </a:avLst>
          </a:prstGeom>
          <a:solidFill>
            <a:srgbClr val="F7F5FB"/>
          </a:solidFill>
          <a:ln w="12700">
            <a:solidFill>
              <a:srgbClr val="C96442"/>
            </a:solidFill>
            <a:prstDash val="dash"/>
          </a:ln>
        </p:spPr>
      </p:sp>
      <p:sp>
        <p:nvSpPr>
          <p:cNvPr id="23" name="Text 21"/>
          <p:cNvSpPr/>
          <p:nvPr/>
        </p:nvSpPr>
        <p:spPr>
          <a:xfrm>
            <a:off x="4407408" y="1920240"/>
            <a:ext cx="3374136" cy="274320"/>
          </a:xfrm>
          <a:prstGeom prst="rect">
            <a:avLst/>
          </a:prstGeom>
          <a:noFill/>
          <a:ln/>
        </p:spPr>
        <p:txBody>
          <a:bodyPr wrap="square" lIns="0" tIns="0" rIns="0" bIns="0" rtlCol="0" anchor="ctr"/>
          <a:lstStyle/>
          <a:p>
            <a:pPr indent="0" marL="0">
              <a:buNone/>
            </a:pPr>
            <a:r>
              <a:rPr lang="en-US" sz="1200" b="1" dirty="0">
                <a:solidFill>
                  <a:srgbClr val="C96442"/>
                </a:solidFill>
                <a:latin typeface="Courier New" pitchFamily="34" charset="0"/>
                <a:ea typeface="Courier New" pitchFamily="34" charset="-122"/>
                <a:cs typeface="Courier New" pitchFamily="34" charset="-120"/>
              </a:rPr>
              <a:t>←  </a:t>
            </a:r>
            <a:pPr indent="0" marL="0">
              <a:buNone/>
            </a:pPr>
            <a:r>
              <a:rPr lang="en-US" sz="1200" b="1" dirty="0">
                <a:solidFill>
                  <a:srgbClr val="201A2E"/>
                </a:solidFill>
                <a:latin typeface="Courier New" pitchFamily="34" charset="0"/>
                <a:ea typeface="Courier New" pitchFamily="34" charset="-122"/>
                <a:cs typeface="Courier New" pitchFamily="34" charset="-120"/>
              </a:rPr>
              <a:t>MCP server mode</a:t>
            </a:r>
            <a:endParaRPr lang="en-US" sz="1200" dirty="0"/>
          </a:p>
        </p:txBody>
      </p:sp>
      <p:sp>
        <p:nvSpPr>
          <p:cNvPr id="24" name="Text 22"/>
          <p:cNvSpPr/>
          <p:nvPr/>
        </p:nvSpPr>
        <p:spPr>
          <a:xfrm>
            <a:off x="4407408" y="2212848"/>
            <a:ext cx="3374136" cy="50292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coding agent queries raia agents as tools</a:t>
            </a:r>
            <a:endParaRPr lang="en-US" sz="1050" dirty="0"/>
          </a:p>
        </p:txBody>
      </p:sp>
      <p:sp>
        <p:nvSpPr>
          <p:cNvPr id="25" name="Shape 23"/>
          <p:cNvSpPr/>
          <p:nvPr/>
        </p:nvSpPr>
        <p:spPr>
          <a:xfrm>
            <a:off x="6748272" y="1920240"/>
            <a:ext cx="941832" cy="237744"/>
          </a:xfrm>
          <a:prstGeom prst="roundRect">
            <a:avLst>
              <a:gd name="adj" fmla="val 50000"/>
            </a:avLst>
          </a:prstGeom>
          <a:solidFill>
            <a:srgbClr val="E8F4EE"/>
          </a:solidFill>
          <a:ln w="9525">
            <a:solidFill>
              <a:srgbClr val="2E8B6A"/>
            </a:solidFill>
            <a:prstDash val="solid"/>
          </a:ln>
        </p:spPr>
      </p:sp>
      <p:sp>
        <p:nvSpPr>
          <p:cNvPr id="26" name="Text 24"/>
          <p:cNvSpPr/>
          <p:nvPr/>
        </p:nvSpPr>
        <p:spPr>
          <a:xfrm>
            <a:off x="6748272" y="1901952"/>
            <a:ext cx="941832" cy="265176"/>
          </a:xfrm>
          <a:prstGeom prst="rect">
            <a:avLst/>
          </a:prstGeom>
          <a:noFill/>
          <a:ln/>
        </p:spPr>
        <p:txBody>
          <a:bodyPr wrap="square" lIns="0" tIns="0" rIns="0" bIns="0" rtlCol="0" anchor="ctr"/>
          <a:lstStyle/>
          <a:p>
            <a:pPr algn="ctr" indent="0" marL="0">
              <a:buNone/>
            </a:pPr>
            <a:r>
              <a:rPr lang="en-US" sz="850" b="1" dirty="0">
                <a:solidFill>
                  <a:srgbClr val="2E8B6A"/>
                </a:solidFill>
                <a:latin typeface="Courier New" pitchFamily="34" charset="0"/>
                <a:ea typeface="Courier New" pitchFamily="34" charset="-122"/>
                <a:cs typeface="Courier New" pitchFamily="34" charset="-120"/>
              </a:rPr>
              <a:t>LIVE TODAY</a:t>
            </a:r>
            <a:endParaRPr lang="en-US" sz="850" dirty="0"/>
          </a:p>
        </p:txBody>
      </p:sp>
      <p:sp>
        <p:nvSpPr>
          <p:cNvPr id="27" name="Shape 25"/>
          <p:cNvSpPr/>
          <p:nvPr/>
        </p:nvSpPr>
        <p:spPr>
          <a:xfrm>
            <a:off x="4206240" y="2926080"/>
            <a:ext cx="3776472" cy="960120"/>
          </a:xfrm>
          <a:prstGeom prst="roundRect">
            <a:avLst>
              <a:gd name="adj" fmla="val 7619"/>
            </a:avLst>
          </a:prstGeom>
          <a:solidFill>
            <a:srgbClr val="F7F5FB"/>
          </a:solidFill>
          <a:ln w="12700">
            <a:solidFill>
              <a:srgbClr val="2E8B6A"/>
            </a:solidFill>
            <a:prstDash val="dash"/>
          </a:ln>
        </p:spPr>
      </p:sp>
      <p:sp>
        <p:nvSpPr>
          <p:cNvPr id="28" name="Text 26"/>
          <p:cNvSpPr/>
          <p:nvPr/>
        </p:nvSpPr>
        <p:spPr>
          <a:xfrm>
            <a:off x="4407408" y="3035808"/>
            <a:ext cx="3374136" cy="274320"/>
          </a:xfrm>
          <a:prstGeom prst="rect">
            <a:avLst/>
          </a:prstGeom>
          <a:noFill/>
          <a:ln/>
        </p:spPr>
        <p:txBody>
          <a:bodyPr wrap="square" lIns="0" tIns="0" rIns="0" bIns="0" rtlCol="0" anchor="ctr"/>
          <a:lstStyle/>
          <a:p>
            <a:pPr indent="0" marL="0">
              <a:buNone/>
            </a:pPr>
            <a:r>
              <a:rPr lang="en-US" sz="1200" b="1" dirty="0">
                <a:solidFill>
                  <a:srgbClr val="2E8B6A"/>
                </a:solidFill>
                <a:latin typeface="Courier New" pitchFamily="34" charset="0"/>
                <a:ea typeface="Courier New" pitchFamily="34" charset="-122"/>
                <a:cs typeface="Courier New" pitchFamily="34" charset="-120"/>
              </a:rPr>
              <a:t>→  </a:t>
            </a:r>
            <a:pPr indent="0" marL="0">
              <a:buNone/>
            </a:pPr>
            <a:r>
              <a:rPr lang="en-US" sz="1200" b="1" dirty="0">
                <a:solidFill>
                  <a:srgbClr val="201A2E"/>
                </a:solidFill>
                <a:latin typeface="Courier New" pitchFamily="34" charset="0"/>
                <a:ea typeface="Courier New" pitchFamily="34" charset="-122"/>
                <a:cs typeface="Courier New" pitchFamily="34" charset="-120"/>
              </a:rPr>
              <a:t>REST API</a:t>
            </a:r>
            <a:endParaRPr lang="en-US" sz="1200" dirty="0"/>
          </a:p>
        </p:txBody>
      </p:sp>
      <p:sp>
        <p:nvSpPr>
          <p:cNvPr id="29" name="Text 27"/>
          <p:cNvSpPr/>
          <p:nvPr/>
        </p:nvSpPr>
        <p:spPr>
          <a:xfrm>
            <a:off x="4407408" y="3328416"/>
            <a:ext cx="3374136" cy="50292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CI pushes docs &amp; release notes to vector stores</a:t>
            </a:r>
            <a:endParaRPr lang="en-US" sz="1050" dirty="0"/>
          </a:p>
        </p:txBody>
      </p:sp>
      <p:sp>
        <p:nvSpPr>
          <p:cNvPr id="30" name="Shape 28"/>
          <p:cNvSpPr/>
          <p:nvPr/>
        </p:nvSpPr>
        <p:spPr>
          <a:xfrm>
            <a:off x="6748272" y="3035808"/>
            <a:ext cx="941832" cy="237744"/>
          </a:xfrm>
          <a:prstGeom prst="roundRect">
            <a:avLst>
              <a:gd name="adj" fmla="val 50000"/>
            </a:avLst>
          </a:prstGeom>
          <a:solidFill>
            <a:srgbClr val="E8F4EE"/>
          </a:solidFill>
          <a:ln w="9525">
            <a:solidFill>
              <a:srgbClr val="2E8B6A"/>
            </a:solidFill>
            <a:prstDash val="solid"/>
          </a:ln>
        </p:spPr>
      </p:sp>
      <p:sp>
        <p:nvSpPr>
          <p:cNvPr id="31" name="Text 29"/>
          <p:cNvSpPr/>
          <p:nvPr/>
        </p:nvSpPr>
        <p:spPr>
          <a:xfrm>
            <a:off x="6748272" y="3017520"/>
            <a:ext cx="941832" cy="265176"/>
          </a:xfrm>
          <a:prstGeom prst="rect">
            <a:avLst/>
          </a:prstGeom>
          <a:noFill/>
          <a:ln/>
        </p:spPr>
        <p:txBody>
          <a:bodyPr wrap="square" lIns="0" tIns="0" rIns="0" bIns="0" rtlCol="0" anchor="ctr"/>
          <a:lstStyle/>
          <a:p>
            <a:pPr algn="ctr" indent="0" marL="0">
              <a:buNone/>
            </a:pPr>
            <a:r>
              <a:rPr lang="en-US" sz="850" b="1" dirty="0">
                <a:solidFill>
                  <a:srgbClr val="2E8B6A"/>
                </a:solidFill>
                <a:latin typeface="Courier New" pitchFamily="34" charset="0"/>
                <a:ea typeface="Courier New" pitchFamily="34" charset="-122"/>
                <a:cs typeface="Courier New" pitchFamily="34" charset="-120"/>
              </a:rPr>
              <a:t>LIVE TODAY</a:t>
            </a:r>
            <a:endParaRPr lang="en-US" sz="850" dirty="0"/>
          </a:p>
        </p:txBody>
      </p:sp>
      <p:sp>
        <p:nvSpPr>
          <p:cNvPr id="32" name="Shape 30"/>
          <p:cNvSpPr/>
          <p:nvPr/>
        </p:nvSpPr>
        <p:spPr>
          <a:xfrm>
            <a:off x="4206240" y="4041648"/>
            <a:ext cx="3776472" cy="960120"/>
          </a:xfrm>
          <a:prstGeom prst="roundRect">
            <a:avLst>
              <a:gd name="adj" fmla="val 7619"/>
            </a:avLst>
          </a:prstGeom>
          <a:solidFill>
            <a:srgbClr val="F7F5FB"/>
          </a:solidFill>
          <a:ln w="12700">
            <a:solidFill>
              <a:srgbClr val="6D4AEF"/>
            </a:solidFill>
            <a:prstDash val="dash"/>
          </a:ln>
        </p:spPr>
      </p:sp>
      <p:sp>
        <p:nvSpPr>
          <p:cNvPr id="33" name="Text 31"/>
          <p:cNvSpPr/>
          <p:nvPr/>
        </p:nvSpPr>
        <p:spPr>
          <a:xfrm>
            <a:off x="4407408" y="4151376"/>
            <a:ext cx="3374136" cy="274320"/>
          </a:xfrm>
          <a:prstGeom prst="rect">
            <a:avLst/>
          </a:prstGeom>
          <a:noFill/>
          <a:ln/>
        </p:spPr>
        <p:txBody>
          <a:bodyPr wrap="square" lIns="0" tIns="0" rIns="0" bIns="0" rtlCol="0" anchor="ctr"/>
          <a:lstStyle/>
          <a:p>
            <a:pPr indent="0" marL="0">
              <a:buNone/>
            </a:pPr>
            <a:r>
              <a:rPr lang="en-US" sz="1200" b="1" dirty="0">
                <a:solidFill>
                  <a:srgbClr val="6D4AEF"/>
                </a:solidFill>
                <a:latin typeface="Courier New" pitchFamily="34" charset="0"/>
                <a:ea typeface="Courier New" pitchFamily="34" charset="-122"/>
                <a:cs typeface="Courier New" pitchFamily="34" charset="-120"/>
              </a:rPr>
              <a:t>→  </a:t>
            </a:r>
            <a:pPr indent="0" marL="0">
              <a:buNone/>
            </a:pPr>
            <a:r>
              <a:rPr lang="en-US" sz="1200" b="1" dirty="0">
                <a:solidFill>
                  <a:srgbClr val="201A2E"/>
                </a:solidFill>
                <a:latin typeface="Courier New" pitchFamily="34" charset="0"/>
                <a:ea typeface="Courier New" pitchFamily="34" charset="-122"/>
                <a:cs typeface="Courier New" pitchFamily="34" charset="-120"/>
              </a:rPr>
              <a:t>MCP client mode</a:t>
            </a:r>
            <a:endParaRPr lang="en-US" sz="1200" dirty="0"/>
          </a:p>
        </p:txBody>
      </p:sp>
      <p:sp>
        <p:nvSpPr>
          <p:cNvPr id="34" name="Text 32"/>
          <p:cNvSpPr/>
          <p:nvPr/>
        </p:nvSpPr>
        <p:spPr>
          <a:xfrm>
            <a:off x="4407408" y="4443984"/>
            <a:ext cx="3374136" cy="50292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raia agents read GitHub / Jira for PM status</a:t>
            </a:r>
            <a:endParaRPr lang="en-US" sz="1050" dirty="0"/>
          </a:p>
        </p:txBody>
      </p:sp>
      <p:sp>
        <p:nvSpPr>
          <p:cNvPr id="35" name="Shape 33"/>
          <p:cNvSpPr/>
          <p:nvPr/>
        </p:nvSpPr>
        <p:spPr>
          <a:xfrm>
            <a:off x="4206240" y="5157216"/>
            <a:ext cx="3776472" cy="960120"/>
          </a:xfrm>
          <a:prstGeom prst="roundRect">
            <a:avLst>
              <a:gd name="adj" fmla="val 7619"/>
            </a:avLst>
          </a:prstGeom>
          <a:solidFill>
            <a:srgbClr val="F7F5FB"/>
          </a:solidFill>
          <a:ln w="12700">
            <a:solidFill>
              <a:srgbClr val="5A5170"/>
            </a:solidFill>
            <a:prstDash val="dash"/>
          </a:ln>
        </p:spPr>
      </p:sp>
      <p:sp>
        <p:nvSpPr>
          <p:cNvPr id="36" name="Text 34"/>
          <p:cNvSpPr/>
          <p:nvPr/>
        </p:nvSpPr>
        <p:spPr>
          <a:xfrm>
            <a:off x="4407408" y="5266944"/>
            <a:ext cx="3374136" cy="274320"/>
          </a:xfrm>
          <a:prstGeom prst="rect">
            <a:avLst/>
          </a:prstGeom>
          <a:noFill/>
          <a:ln/>
        </p:spPr>
        <p:txBody>
          <a:bodyPr wrap="square" lIns="0" tIns="0" rIns="0" bIns="0" rtlCol="0" anchor="ctr"/>
          <a:lstStyle/>
          <a:p>
            <a:pPr indent="0" marL="0">
              <a:buNone/>
            </a:pPr>
            <a:r>
              <a:rPr lang="en-US" sz="1200" b="1" dirty="0">
                <a:solidFill>
                  <a:srgbClr val="5A5170"/>
                </a:solidFill>
                <a:latin typeface="Courier New" pitchFamily="34" charset="0"/>
                <a:ea typeface="Courier New" pitchFamily="34" charset="-122"/>
                <a:cs typeface="Courier New" pitchFamily="34" charset="-120"/>
              </a:rPr>
              <a:t>↔  </a:t>
            </a:r>
            <a:pPr indent="0" marL="0">
              <a:buNone/>
            </a:pPr>
            <a:r>
              <a:rPr lang="en-US" sz="1200" b="1" dirty="0">
                <a:solidFill>
                  <a:srgbClr val="201A2E"/>
                </a:solidFill>
                <a:latin typeface="Courier New" pitchFamily="34" charset="0"/>
                <a:ea typeface="Courier New" pitchFamily="34" charset="-122"/>
                <a:cs typeface="Courier New" pitchFamily="34" charset="-120"/>
              </a:rPr>
              <a:t>Webhooks + n8n</a:t>
            </a:r>
            <a:endParaRPr lang="en-US" sz="1200" dirty="0"/>
          </a:p>
        </p:txBody>
      </p:sp>
      <p:sp>
        <p:nvSpPr>
          <p:cNvPr id="37" name="Text 35"/>
          <p:cNvSpPr/>
          <p:nvPr/>
        </p:nvSpPr>
        <p:spPr>
          <a:xfrm>
            <a:off x="4407408" y="5559552"/>
            <a:ext cx="3374136" cy="50292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events trigger sessions; sessions trigger agents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03 · FOUNDATION</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Three agents cover everything</a:t>
            </a:r>
            <a:endParaRPr lang="en-US" sz="3000" dirty="0"/>
          </a:p>
        </p:txBody>
      </p:sp>
      <p:sp>
        <p:nvSpPr>
          <p:cNvPr id="4" name="Shape 2"/>
          <p:cNvSpPr/>
          <p:nvPr/>
        </p:nvSpPr>
        <p:spPr>
          <a:xfrm>
            <a:off x="548640" y="1645920"/>
            <a:ext cx="3514344" cy="356616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22960" y="1938528"/>
            <a:ext cx="530352" cy="530352"/>
          </a:xfrm>
          <a:prstGeom prst="ellipse">
            <a:avLst/>
          </a:prstGeom>
          <a:solidFill>
            <a:srgbClr val="F1EDFF"/>
          </a:solidFill>
          <a:ln/>
        </p:spPr>
      </p:sp>
      <p:pic>
        <p:nvPicPr>
          <p:cNvPr id="6" name="Image 0" descr="preencoded.png">    </p:cNvPr>
          <p:cNvPicPr>
            <a:picLocks noChangeAspect="1"/>
          </p:cNvPicPr>
          <p:nvPr/>
        </p:nvPicPr>
        <p:blipFill>
          <a:blip r:embed="rId1"/>
          <a:stretch>
            <a:fillRect/>
          </a:stretch>
        </p:blipFill>
        <p:spPr>
          <a:xfrm>
            <a:off x="960852" y="2076420"/>
            <a:ext cx="254569" cy="254569"/>
          </a:xfrm>
          <a:prstGeom prst="rect">
            <a:avLst/>
          </a:prstGeom>
        </p:spPr>
      </p:pic>
      <p:sp>
        <p:nvSpPr>
          <p:cNvPr id="7" name="Text 4"/>
          <p:cNvSpPr/>
          <p:nvPr/>
        </p:nvSpPr>
        <p:spPr>
          <a:xfrm>
            <a:off x="822960" y="2606040"/>
            <a:ext cx="2965704"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Codebase Agent</a:t>
            </a:r>
            <a:endParaRPr lang="en-US" sz="1600" dirty="0"/>
          </a:p>
        </p:txBody>
      </p:sp>
      <p:sp>
        <p:nvSpPr>
          <p:cNvPr id="8" name="Text 5"/>
          <p:cNvSpPr/>
          <p:nvPr/>
        </p:nvSpPr>
        <p:spPr>
          <a:xfrm>
            <a:off x="822960" y="3017520"/>
            <a:ext cx="2965704" cy="2057400"/>
          </a:xfrm>
          <a:prstGeom prst="rect">
            <a:avLst/>
          </a:prstGeom>
          <a:noFill/>
          <a:ln/>
        </p:spPr>
        <p:txBody>
          <a:bodyPr wrap="square" lIns="0" tIns="0" rIns="0" bIns="0" rtlCol="0" anchor="ctr"/>
          <a:lstStyle/>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TRAINED ON</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Architecture docs, ADRs, generated references, API contracts, migration guides.</a:t>
            </a:r>
            <a:endParaRPr lang="en-US" sz="900" dirty="0"/>
          </a:p>
          <a:p>
            <a:pPr indent="0" marL="0">
              <a:lnSpc>
                <a:spcPts val="1550"/>
              </a:lnSpc>
              <a:buNone/>
            </a:pPr>
            <a:r>
              <a:rPr lang="en-US" sz="600" dirty="0">
                <a:solidFill>
                  <a:srgbClr val="000000"/>
                </a:solidFill>
                <a:latin typeface="Arial" pitchFamily="34" charset="0"/>
                <a:ea typeface="Arial" pitchFamily="34" charset="-122"/>
                <a:cs typeface="Arial" pitchFamily="34" charset="-120"/>
              </a:rPr>
              <a:t> </a:t>
            </a:r>
            <a:endParaRPr lang="en-US" sz="900" dirty="0"/>
          </a:p>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ANSWERS</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“Why is the code like this?” — for sessions, IDE chats, and new hires.</a:t>
            </a:r>
            <a:endParaRPr lang="en-US" sz="900" dirty="0"/>
          </a:p>
        </p:txBody>
      </p:sp>
      <p:sp>
        <p:nvSpPr>
          <p:cNvPr id="9" name="Shape 6"/>
          <p:cNvSpPr/>
          <p:nvPr/>
        </p:nvSpPr>
        <p:spPr>
          <a:xfrm>
            <a:off x="4337304" y="1645920"/>
            <a:ext cx="3514344" cy="356616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4611624" y="1938528"/>
            <a:ext cx="530352" cy="530352"/>
          </a:xfrm>
          <a:prstGeom prst="ellipse">
            <a:avLst/>
          </a:prstGeom>
          <a:solidFill>
            <a:srgbClr val="F1EDFF"/>
          </a:solidFill>
          <a:ln/>
        </p:spPr>
      </p:sp>
      <p:pic>
        <p:nvPicPr>
          <p:cNvPr id="11" name="Image 1" descr="preencoded.png">    </p:cNvPr>
          <p:cNvPicPr>
            <a:picLocks noChangeAspect="1"/>
          </p:cNvPicPr>
          <p:nvPr/>
        </p:nvPicPr>
        <p:blipFill>
          <a:blip r:embed="rId2"/>
          <a:stretch>
            <a:fillRect/>
          </a:stretch>
        </p:blipFill>
        <p:spPr>
          <a:xfrm>
            <a:off x="4749516" y="2076420"/>
            <a:ext cx="254569" cy="254569"/>
          </a:xfrm>
          <a:prstGeom prst="rect">
            <a:avLst/>
          </a:prstGeom>
        </p:spPr>
      </p:pic>
      <p:sp>
        <p:nvSpPr>
          <p:cNvPr id="12" name="Text 8"/>
          <p:cNvSpPr/>
          <p:nvPr/>
        </p:nvSpPr>
        <p:spPr>
          <a:xfrm>
            <a:off x="4611624" y="2606040"/>
            <a:ext cx="2965704"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Product Agent</a:t>
            </a:r>
            <a:endParaRPr lang="en-US" sz="1600" dirty="0"/>
          </a:p>
        </p:txBody>
      </p:sp>
      <p:sp>
        <p:nvSpPr>
          <p:cNvPr id="13" name="Text 9"/>
          <p:cNvSpPr/>
          <p:nvPr/>
        </p:nvSpPr>
        <p:spPr>
          <a:xfrm>
            <a:off x="4611624" y="3017520"/>
            <a:ext cx="2965704" cy="2057400"/>
          </a:xfrm>
          <a:prstGeom prst="rect">
            <a:avLst/>
          </a:prstGeom>
          <a:noFill/>
          <a:ln/>
        </p:spPr>
        <p:txBody>
          <a:bodyPr wrap="square" lIns="0" tIns="0" rIns="0" bIns="0" rtlCol="0" anchor="ctr"/>
          <a:lstStyle/>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TRAINED ON</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PRDs, strategy docs, acceptance criteria, release notes, pricing &amp; policy rules.</a:t>
            </a:r>
            <a:endParaRPr lang="en-US" sz="900" dirty="0"/>
          </a:p>
          <a:p>
            <a:pPr indent="0" marL="0">
              <a:lnSpc>
                <a:spcPts val="1550"/>
              </a:lnSpc>
              <a:buNone/>
            </a:pPr>
            <a:r>
              <a:rPr lang="en-US" sz="600" dirty="0">
                <a:solidFill>
                  <a:srgbClr val="000000"/>
                </a:solidFill>
                <a:latin typeface="Arial" pitchFamily="34" charset="0"/>
                <a:ea typeface="Arial" pitchFamily="34" charset="-122"/>
                <a:cs typeface="Arial" pitchFamily="34" charset="-120"/>
              </a:rPr>
              <a:t> </a:t>
            </a:r>
            <a:endParaRPr lang="en-US" sz="900" dirty="0"/>
          </a:p>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ANSWERS</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“What should it do, and why?” — for PMs, plan mode, and spec review.</a:t>
            </a:r>
            <a:endParaRPr lang="en-US" sz="900" dirty="0"/>
          </a:p>
        </p:txBody>
      </p:sp>
      <p:sp>
        <p:nvSpPr>
          <p:cNvPr id="14" name="Shape 10"/>
          <p:cNvSpPr/>
          <p:nvPr/>
        </p:nvSpPr>
        <p:spPr>
          <a:xfrm>
            <a:off x="8125968" y="1645920"/>
            <a:ext cx="3514344" cy="356616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Shape 11"/>
          <p:cNvSpPr/>
          <p:nvPr/>
        </p:nvSpPr>
        <p:spPr>
          <a:xfrm>
            <a:off x="8400288" y="1938528"/>
            <a:ext cx="530352" cy="530352"/>
          </a:xfrm>
          <a:prstGeom prst="ellipse">
            <a:avLst/>
          </a:prstGeom>
          <a:solidFill>
            <a:srgbClr val="F1EDFF"/>
          </a:solidFill>
          <a:ln/>
        </p:spPr>
      </p:sp>
      <p:pic>
        <p:nvPicPr>
          <p:cNvPr id="16" name="Image 2" descr="preencoded.png">    </p:cNvPr>
          <p:cNvPicPr>
            <a:picLocks noChangeAspect="1"/>
          </p:cNvPicPr>
          <p:nvPr/>
        </p:nvPicPr>
        <p:blipFill>
          <a:blip r:embed="rId3"/>
          <a:stretch>
            <a:fillRect/>
          </a:stretch>
        </p:blipFill>
        <p:spPr>
          <a:xfrm>
            <a:off x="8538180" y="2076420"/>
            <a:ext cx="254569" cy="254569"/>
          </a:xfrm>
          <a:prstGeom prst="rect">
            <a:avLst/>
          </a:prstGeom>
        </p:spPr>
      </p:pic>
      <p:sp>
        <p:nvSpPr>
          <p:cNvPr id="17" name="Text 12"/>
          <p:cNvSpPr/>
          <p:nvPr/>
        </p:nvSpPr>
        <p:spPr>
          <a:xfrm>
            <a:off x="8400288" y="2606040"/>
            <a:ext cx="2965704"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Support &amp; Docs Agent</a:t>
            </a:r>
            <a:endParaRPr lang="en-US" sz="1600" dirty="0"/>
          </a:p>
        </p:txBody>
      </p:sp>
      <p:sp>
        <p:nvSpPr>
          <p:cNvPr id="18" name="Text 13"/>
          <p:cNvSpPr/>
          <p:nvPr/>
        </p:nvSpPr>
        <p:spPr>
          <a:xfrm>
            <a:off x="8400288" y="3017520"/>
            <a:ext cx="2965704" cy="2057400"/>
          </a:xfrm>
          <a:prstGeom prst="rect">
            <a:avLst/>
          </a:prstGeom>
          <a:noFill/>
          <a:ln/>
        </p:spPr>
        <p:txBody>
          <a:bodyPr wrap="square" lIns="0" tIns="0" rIns="0" bIns="0" rtlCol="0" anchor="ctr"/>
          <a:lstStyle/>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TRAINED ON</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Help center, docs site, release notes, resolved tickets, known issues.</a:t>
            </a:r>
            <a:endParaRPr lang="en-US" sz="900" dirty="0"/>
          </a:p>
          <a:p>
            <a:pPr indent="0" marL="0">
              <a:lnSpc>
                <a:spcPts val="1550"/>
              </a:lnSpc>
              <a:buNone/>
            </a:pPr>
            <a:r>
              <a:rPr lang="en-US" sz="600" dirty="0">
                <a:solidFill>
                  <a:srgbClr val="000000"/>
                </a:solidFill>
                <a:latin typeface="Arial" pitchFamily="34" charset="0"/>
                <a:ea typeface="Arial" pitchFamily="34" charset="-122"/>
                <a:cs typeface="Arial" pitchFamily="34" charset="-120"/>
              </a:rPr>
              <a:t> </a:t>
            </a:r>
            <a:endParaRPr lang="en-US" sz="900" dirty="0"/>
          </a:p>
          <a:p>
            <a:pPr indent="0" marL="0">
              <a:lnSpc>
                <a:spcPts val="1550"/>
              </a:lnSpc>
              <a:buNone/>
            </a:pPr>
            <a:r>
              <a:rPr lang="en-US" sz="900" spc="150" kern="0" dirty="0">
                <a:solidFill>
                  <a:srgbClr val="6D4AEF"/>
                </a:solidFill>
                <a:latin typeface="Courier New" pitchFamily="34" charset="0"/>
                <a:ea typeface="Courier New" pitchFamily="34" charset="-122"/>
                <a:cs typeface="Courier New" pitchFamily="34" charset="-120"/>
              </a:rPr>
              <a:t>ANSWERS</a:t>
            </a:r>
            <a:endParaRPr lang="en-US" sz="900" dirty="0"/>
          </a:p>
          <a:p>
            <a:pPr indent="0" marL="0">
              <a:lnSpc>
                <a:spcPts val="1550"/>
              </a:lnSpc>
              <a:buNone/>
            </a:pPr>
            <a:r>
              <a:rPr lang="en-US" sz="1150" dirty="0">
                <a:solidFill>
                  <a:srgbClr val="5A5170"/>
                </a:solidFill>
                <a:latin typeface="Arial" pitchFamily="34" charset="0"/>
                <a:ea typeface="Arial" pitchFamily="34" charset="-122"/>
                <a:cs typeface="Arial" pitchFamily="34" charset="-120"/>
              </a:rPr>
              <a:t>Customers in Live Chat, support staff in Copilot, and the weekly triage.</a:t>
            </a:r>
            <a:endParaRPr lang="en-US" sz="900" dirty="0"/>
          </a:p>
        </p:txBody>
      </p:sp>
      <p:sp>
        <p:nvSpPr>
          <p:cNvPr id="19" name="Text 14"/>
          <p:cNvSpPr/>
          <p:nvPr/>
        </p:nvSpPr>
        <p:spPr>
          <a:xfrm>
            <a:off x="548640" y="5486400"/>
            <a:ext cx="11091672" cy="548640"/>
          </a:xfrm>
          <a:prstGeom prst="rect">
            <a:avLst/>
          </a:prstGeom>
          <a:noFill/>
          <a:ln/>
        </p:spPr>
        <p:txBody>
          <a:bodyPr wrap="square" lIns="0" tIns="0" rIns="0" bIns="0" rtlCol="0" anchor="ctr"/>
          <a:lstStyle/>
          <a:p>
            <a:pPr indent="0" marL="0">
              <a:buNone/>
            </a:pPr>
            <a:r>
              <a:rPr lang="en-US" sz="1250" dirty="0">
                <a:solidFill>
                  <a:srgbClr val="5A5170"/>
                </a:solidFill>
                <a:latin typeface="Arial" pitchFamily="34" charset="0"/>
                <a:ea typeface="Arial" pitchFamily="34" charset="-122"/>
                <a:cs typeface="Arial" pitchFamily="34" charset="-120"/>
              </a:rPr>
              <a:t>Built in Launch Pad · trained in raia Command · exposed via the MCP Skill.   </a:t>
            </a:r>
            <a:pPr indent="0" marL="0">
              <a:buNone/>
            </a:pPr>
            <a:r>
              <a:rPr lang="en-US" sz="1250" b="1" dirty="0">
                <a:solidFill>
                  <a:srgbClr val="2E8B6A"/>
                </a:solidFill>
                <a:latin typeface="Arial" pitchFamily="34" charset="0"/>
                <a:ea typeface="Arial" pitchFamily="34" charset="-122"/>
                <a:cs typeface="Arial" pitchFamily="34" charset="-120"/>
              </a:rPr>
              <a:t>Later: front all three with the Orchestrator Skill — one endpoint, one key.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03 · FOUNDATION</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Setup is two files and a key</a:t>
            </a:r>
            <a:endParaRPr lang="en-US" sz="3000" dirty="0"/>
          </a:p>
        </p:txBody>
      </p:sp>
      <p:sp>
        <p:nvSpPr>
          <p:cNvPr id="4" name="Shape 2"/>
          <p:cNvSpPr/>
          <p:nvPr/>
        </p:nvSpPr>
        <p:spPr>
          <a:xfrm>
            <a:off x="548640" y="1600200"/>
            <a:ext cx="5362956" cy="3017520"/>
          </a:xfrm>
          <a:prstGeom prst="roundRect">
            <a:avLst>
              <a:gd name="adj" fmla="val 2424"/>
            </a:avLst>
          </a:prstGeom>
          <a:solidFill>
            <a:srgbClr val="211B31"/>
          </a:solidFill>
          <a:ln/>
        </p:spPr>
      </p:sp>
      <p:sp>
        <p:nvSpPr>
          <p:cNvPr id="5" name="Text 3"/>
          <p:cNvSpPr/>
          <p:nvPr/>
        </p:nvSpPr>
        <p:spPr>
          <a:xfrm>
            <a:off x="822960" y="1764792"/>
            <a:ext cx="4814316" cy="274320"/>
          </a:xfrm>
          <a:prstGeom prst="rect">
            <a:avLst/>
          </a:prstGeom>
          <a:noFill/>
          <a:ln/>
        </p:spPr>
        <p:txBody>
          <a:bodyPr wrap="square" lIns="0" tIns="0" rIns="0" bIns="0" rtlCol="0" anchor="ctr"/>
          <a:lstStyle/>
          <a:p>
            <a:pPr indent="0" marL="0">
              <a:buNone/>
            </a:pPr>
            <a:r>
              <a:rPr lang="en-US" sz="1100" b="1" dirty="0">
                <a:solidFill>
                  <a:srgbClr val="9D85FF"/>
                </a:solidFill>
                <a:latin typeface="Courier New" pitchFamily="34" charset="0"/>
                <a:ea typeface="Courier New" pitchFamily="34" charset="-122"/>
                <a:cs typeface="Courier New" pitchFamily="34" charset="-120"/>
              </a:rPr>
              <a:t>.mcp.json — committed at the repo root</a:t>
            </a:r>
            <a:endParaRPr lang="en-US" sz="1100" dirty="0"/>
          </a:p>
        </p:txBody>
      </p:sp>
      <p:sp>
        <p:nvSpPr>
          <p:cNvPr id="6" name="Text 4"/>
          <p:cNvSpPr/>
          <p:nvPr/>
        </p:nvSpPr>
        <p:spPr>
          <a:xfrm>
            <a:off x="822960" y="2103120"/>
            <a:ext cx="4814316" cy="2331720"/>
          </a:xfrm>
          <a:prstGeom prst="rect">
            <a:avLst/>
          </a:prstGeom>
          <a:noFill/>
          <a:ln/>
        </p:spPr>
        <p:txBody>
          <a:bodyPr wrap="square" lIns="0" tIns="0" rIns="0" bIns="0" rtlCol="0" anchor="t"/>
          <a:lstStyle/>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"mcpServers":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"raia-product":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"type": "http",</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"url": "https://api.raia2.com/mcp",</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"headers":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"Authorization": "${RAIA_MCP_KEY}"</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a:t>
            </a:r>
            <a:endParaRPr lang="en-US" sz="1050" dirty="0"/>
          </a:p>
        </p:txBody>
      </p:sp>
      <p:sp>
        <p:nvSpPr>
          <p:cNvPr id="7" name="Shape 5"/>
          <p:cNvSpPr/>
          <p:nvPr/>
        </p:nvSpPr>
        <p:spPr>
          <a:xfrm>
            <a:off x="6277356" y="1600200"/>
            <a:ext cx="5362956" cy="3017520"/>
          </a:xfrm>
          <a:prstGeom prst="roundRect">
            <a:avLst>
              <a:gd name="adj" fmla="val 2424"/>
            </a:avLst>
          </a:prstGeom>
          <a:solidFill>
            <a:srgbClr val="211B31"/>
          </a:solidFill>
          <a:ln/>
        </p:spPr>
      </p:sp>
      <p:sp>
        <p:nvSpPr>
          <p:cNvPr id="8" name="Text 6"/>
          <p:cNvSpPr/>
          <p:nvPr/>
        </p:nvSpPr>
        <p:spPr>
          <a:xfrm>
            <a:off x="6551676" y="1764792"/>
            <a:ext cx="4814316" cy="274320"/>
          </a:xfrm>
          <a:prstGeom prst="rect">
            <a:avLst/>
          </a:prstGeom>
          <a:noFill/>
          <a:ln/>
        </p:spPr>
        <p:txBody>
          <a:bodyPr wrap="square" lIns="0" tIns="0" rIns="0" bIns="0" rtlCol="0" anchor="ctr"/>
          <a:lstStyle/>
          <a:p>
            <a:pPr indent="0" marL="0">
              <a:buNone/>
            </a:pPr>
            <a:r>
              <a:rPr lang="en-US" sz="1100" b="1" dirty="0">
                <a:solidFill>
                  <a:srgbClr val="9D85FF"/>
                </a:solidFill>
                <a:latin typeface="Courier New" pitchFamily="34" charset="0"/>
                <a:ea typeface="Courier New" pitchFamily="34" charset="-122"/>
                <a:cs typeface="Courier New" pitchFamily="34" charset="-120"/>
              </a:rPr>
              <a:t>CLAUDE.md / AGENTS.md — when to consult raia</a:t>
            </a:r>
            <a:endParaRPr lang="en-US" sz="1100" dirty="0"/>
          </a:p>
        </p:txBody>
      </p:sp>
      <p:sp>
        <p:nvSpPr>
          <p:cNvPr id="9" name="Text 7"/>
          <p:cNvSpPr/>
          <p:nvPr/>
        </p:nvSpPr>
        <p:spPr>
          <a:xfrm>
            <a:off x="6551676" y="2103120"/>
            <a:ext cx="4814316" cy="2331720"/>
          </a:xfrm>
          <a:prstGeom prst="rect">
            <a:avLst/>
          </a:prstGeom>
          <a:noFill/>
          <a:ln/>
        </p:spPr>
        <p:txBody>
          <a:bodyPr wrap="square" lIns="0" tIns="0" rIns="0" bIns="0" rtlCol="0" anchor="t"/>
          <a:lstStyle/>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raia knowledge agents (MCP)</a:t>
            </a:r>
            <a:endParaRPr lang="en-US" sz="1050" dirty="0"/>
          </a:p>
          <a:p>
            <a:pPr indent="0" marL="0">
              <a:lnSpc>
                <a:spcPts val="1350"/>
              </a:lnSpc>
              <a:buNone/>
            </a:pP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Before planning a feature, query</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raia-product for spec + constraints.</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When code intent is unclear, ask</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raia-codebase before guessing.</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Agent answers are context, not</a:t>
            </a:r>
            <a:endParaRPr lang="en-US" sz="1050" dirty="0"/>
          </a:p>
          <a:p>
            <a:pPr indent="0" marL="0">
              <a:lnSpc>
                <a:spcPts val="1350"/>
              </a:lnSpc>
              <a:buNone/>
            </a:pPr>
            <a:r>
              <a:rPr lang="en-US" sz="1050" dirty="0">
                <a:solidFill>
                  <a:srgbClr val="E8E3F5"/>
                </a:solidFill>
                <a:latin typeface="Courier New" pitchFamily="34" charset="0"/>
                <a:ea typeface="Courier New" pitchFamily="34" charset="-122"/>
                <a:cs typeface="Courier New" pitchFamily="34" charset="-120"/>
              </a:rPr>
              <a:t>  authority: verify against the code.</a:t>
            </a:r>
            <a:endParaRPr lang="en-US" sz="1050" dirty="0"/>
          </a:p>
        </p:txBody>
      </p:sp>
      <p:sp>
        <p:nvSpPr>
          <p:cNvPr id="10" name="Shape 8"/>
          <p:cNvSpPr/>
          <p:nvPr/>
        </p:nvSpPr>
        <p:spPr>
          <a:xfrm>
            <a:off x="548640" y="4892040"/>
            <a:ext cx="11091672" cy="1234440"/>
          </a:xfrm>
          <a:prstGeom prst="roundRect">
            <a:avLst>
              <a:gd name="adj" fmla="val 5926"/>
            </a:avLst>
          </a:prstGeom>
          <a:solidFill>
            <a:srgbClr val="F9F1DE"/>
          </a:solidFill>
          <a:ln w="12700">
            <a:solidFill>
              <a:srgbClr val="B07C1F"/>
            </a:solidFill>
            <a:prstDash val="solid"/>
          </a:ln>
          <a:effectLst>
            <a:outerShdw sx="100000" sy="100000" kx="0" ky="0" algn="bl" rotWithShape="0" blurRad="76200" dist="12700" dir="5400000">
              <a:srgbClr val="B4ABCE">
                <a:alpha val="28000"/>
              </a:srgbClr>
            </a:outerShdw>
          </a:effectLst>
        </p:spPr>
      </p:sp>
      <p:sp>
        <p:nvSpPr>
          <p:cNvPr id="11" name="Shape 9"/>
          <p:cNvSpPr/>
          <p:nvPr/>
        </p:nvSpPr>
        <p:spPr>
          <a:xfrm>
            <a:off x="822960" y="5166360"/>
            <a:ext cx="475488" cy="475488"/>
          </a:xfrm>
          <a:prstGeom prst="ellipse">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946587" y="5289987"/>
            <a:ext cx="228234" cy="228234"/>
          </a:xfrm>
          <a:prstGeom prst="rect">
            <a:avLst/>
          </a:prstGeom>
        </p:spPr>
      </p:pic>
      <p:sp>
        <p:nvSpPr>
          <p:cNvPr id="13" name="Text 10"/>
          <p:cNvSpPr/>
          <p:nvPr/>
        </p:nvSpPr>
        <p:spPr>
          <a:xfrm>
            <a:off x="1463040" y="5029200"/>
            <a:ext cx="9857232" cy="1005840"/>
          </a:xfrm>
          <a:prstGeom prst="rect">
            <a:avLst/>
          </a:prstGeom>
          <a:noFill/>
          <a:ln/>
        </p:spPr>
        <p:txBody>
          <a:bodyPr wrap="square" lIns="0" tIns="0" rIns="0" bIns="0" rtlCol="0" anchor="ctr"/>
          <a:lstStyle/>
          <a:p>
            <a:pPr indent="0" marL="0">
              <a:lnSpc>
                <a:spcPts val="1700"/>
              </a:lnSpc>
              <a:buNone/>
            </a:pPr>
            <a:r>
              <a:rPr lang="en-US" sz="1250" b="1" dirty="0">
                <a:solidFill>
                  <a:srgbClr val="201A2E"/>
                </a:solidFill>
                <a:latin typeface="Arial" pitchFamily="34" charset="0"/>
                <a:ea typeface="Arial" pitchFamily="34" charset="-122"/>
                <a:cs typeface="Arial" pitchFamily="34" charset="-120"/>
              </a:rPr>
              <a:t>Key hygiene:  </a:t>
            </a:r>
            <a:pPr indent="0" marL="0">
              <a:lnSpc>
                <a:spcPts val="1700"/>
              </a:lnSpc>
              <a:buNone/>
            </a:pPr>
            <a:r>
              <a:rPr lang="en-US" sz="1250" dirty="0">
                <a:solidFill>
                  <a:srgbClr val="5A5170"/>
                </a:solidFill>
                <a:latin typeface="Arial" pitchFamily="34" charset="0"/>
                <a:ea typeface="Arial" pitchFamily="34" charset="-122"/>
                <a:cs typeface="Arial" pitchFamily="34" charset="-120"/>
              </a:rPr>
              <a:t>MCP Skill key ≠ Agent-Secret-Key. MCP key → Authorization header, no “Bearer” prefix. Agent-Secret-Key → REST only. Both are per-agent scoped — a leak affects one agent — and rotate from Launch Pad. Keys live in env vars and CI secrets, never in committed files.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04 · THE PRACTICE</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One feature's journey through the loop</a:t>
            </a:r>
            <a:endParaRPr lang="en-US" sz="3000" dirty="0"/>
          </a:p>
        </p:txBody>
      </p:sp>
      <p:sp>
        <p:nvSpPr>
          <p:cNvPr id="4" name="Shape 2"/>
          <p:cNvSpPr/>
          <p:nvPr/>
        </p:nvSpPr>
        <p:spPr>
          <a:xfrm>
            <a:off x="548640" y="2148840"/>
            <a:ext cx="1412095" cy="2377440"/>
          </a:xfrm>
          <a:prstGeom prst="roundRect">
            <a:avLst>
              <a:gd name="adj" fmla="val 5180"/>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971223" y="2404872"/>
            <a:ext cx="566928" cy="566928"/>
          </a:xfrm>
          <a:prstGeom prst="ellipse">
            <a:avLst/>
          </a:prstGeom>
          <a:solidFill>
            <a:srgbClr val="F7F5FB"/>
          </a:solidFill>
          <a:ln w="19050">
            <a:solidFill>
              <a:srgbClr val="6D4AEF"/>
            </a:solidFill>
            <a:prstDash val="solid"/>
          </a:ln>
        </p:spPr>
      </p:sp>
      <p:pic>
        <p:nvPicPr>
          <p:cNvPr id="6" name="Image 0" descr="preencoded.png">    </p:cNvPr>
          <p:cNvPicPr>
            <a:picLocks noChangeAspect="1"/>
          </p:cNvPicPr>
          <p:nvPr/>
        </p:nvPicPr>
        <p:blipFill>
          <a:blip r:embed="rId1"/>
          <a:stretch>
            <a:fillRect/>
          </a:stretch>
        </p:blipFill>
        <p:spPr>
          <a:xfrm>
            <a:off x="1112955" y="2546604"/>
            <a:ext cx="283464" cy="283464"/>
          </a:xfrm>
          <a:prstGeom prst="rect">
            <a:avLst/>
          </a:prstGeom>
        </p:spPr>
      </p:pic>
      <p:sp>
        <p:nvSpPr>
          <p:cNvPr id="7" name="Text 4"/>
          <p:cNvSpPr/>
          <p:nvPr/>
        </p:nvSpPr>
        <p:spPr>
          <a:xfrm>
            <a:off x="594360"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1 · Discover</a:t>
            </a:r>
            <a:endParaRPr lang="en-US" sz="1350" dirty="0"/>
          </a:p>
        </p:txBody>
      </p:sp>
      <p:sp>
        <p:nvSpPr>
          <p:cNvPr id="8" name="Text 5"/>
          <p:cNvSpPr/>
          <p:nvPr/>
        </p:nvSpPr>
        <p:spPr>
          <a:xfrm>
            <a:off x="630936"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signal from real usage</a:t>
            </a:r>
            <a:endParaRPr lang="en-US" sz="1000" dirty="0"/>
          </a:p>
        </p:txBody>
      </p:sp>
      <p:sp>
        <p:nvSpPr>
          <p:cNvPr id="9" name="Shape 6"/>
          <p:cNvSpPr/>
          <p:nvPr/>
        </p:nvSpPr>
        <p:spPr>
          <a:xfrm>
            <a:off x="1960735" y="3337560"/>
            <a:ext cx="201168" cy="0"/>
          </a:xfrm>
          <a:prstGeom prst="line">
            <a:avLst/>
          </a:prstGeom>
          <a:noFill/>
          <a:ln w="25400">
            <a:solidFill>
              <a:srgbClr val="B4ABCE"/>
            </a:solidFill>
            <a:prstDash val="solid"/>
            <a:tailEnd type="triangle"/>
          </a:ln>
        </p:spPr>
      </p:sp>
      <p:sp>
        <p:nvSpPr>
          <p:cNvPr id="10" name="Shape 7"/>
          <p:cNvSpPr/>
          <p:nvPr/>
        </p:nvSpPr>
        <p:spPr>
          <a:xfrm>
            <a:off x="2161903" y="2148840"/>
            <a:ext cx="1412095" cy="2377440"/>
          </a:xfrm>
          <a:prstGeom prst="roundRect">
            <a:avLst>
              <a:gd name="adj" fmla="val 5180"/>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1" name="Shape 8"/>
          <p:cNvSpPr/>
          <p:nvPr/>
        </p:nvSpPr>
        <p:spPr>
          <a:xfrm>
            <a:off x="2584486" y="2404872"/>
            <a:ext cx="566928" cy="566928"/>
          </a:xfrm>
          <a:prstGeom prst="ellipse">
            <a:avLst/>
          </a:prstGeom>
          <a:solidFill>
            <a:srgbClr val="F7F5FB"/>
          </a:solidFill>
          <a:ln w="19050">
            <a:solidFill>
              <a:srgbClr val="6D4AEF"/>
            </a:solidFill>
            <a:prstDash val="solid"/>
          </a:ln>
        </p:spPr>
      </p:sp>
      <p:pic>
        <p:nvPicPr>
          <p:cNvPr id="12" name="Image 1" descr="preencoded.png">    </p:cNvPr>
          <p:cNvPicPr>
            <a:picLocks noChangeAspect="1"/>
          </p:cNvPicPr>
          <p:nvPr/>
        </p:nvPicPr>
        <p:blipFill>
          <a:blip r:embed="rId2"/>
          <a:stretch>
            <a:fillRect/>
          </a:stretch>
        </p:blipFill>
        <p:spPr>
          <a:xfrm>
            <a:off x="2726218" y="2546604"/>
            <a:ext cx="283464" cy="283464"/>
          </a:xfrm>
          <a:prstGeom prst="rect">
            <a:avLst/>
          </a:prstGeom>
        </p:spPr>
      </p:pic>
      <p:sp>
        <p:nvSpPr>
          <p:cNvPr id="13" name="Text 9"/>
          <p:cNvSpPr/>
          <p:nvPr/>
        </p:nvSpPr>
        <p:spPr>
          <a:xfrm>
            <a:off x="2207623"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2 · Define</a:t>
            </a:r>
            <a:endParaRPr lang="en-US" sz="1350" dirty="0"/>
          </a:p>
        </p:txBody>
      </p:sp>
      <p:sp>
        <p:nvSpPr>
          <p:cNvPr id="14" name="Text 10"/>
          <p:cNvSpPr/>
          <p:nvPr/>
        </p:nvSpPr>
        <p:spPr>
          <a:xfrm>
            <a:off x="2244199"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evidence-backed specs</a:t>
            </a:r>
            <a:endParaRPr lang="en-US" sz="1000" dirty="0"/>
          </a:p>
        </p:txBody>
      </p:sp>
      <p:sp>
        <p:nvSpPr>
          <p:cNvPr id="15" name="Shape 11"/>
          <p:cNvSpPr/>
          <p:nvPr/>
        </p:nvSpPr>
        <p:spPr>
          <a:xfrm>
            <a:off x="3573998" y="3337560"/>
            <a:ext cx="201168" cy="0"/>
          </a:xfrm>
          <a:prstGeom prst="line">
            <a:avLst/>
          </a:prstGeom>
          <a:noFill/>
          <a:ln w="25400">
            <a:solidFill>
              <a:srgbClr val="B4ABCE"/>
            </a:solidFill>
            <a:prstDash val="solid"/>
            <a:tailEnd type="triangle"/>
          </a:ln>
        </p:spPr>
      </p:sp>
      <p:sp>
        <p:nvSpPr>
          <p:cNvPr id="16" name="Shape 12"/>
          <p:cNvSpPr/>
          <p:nvPr/>
        </p:nvSpPr>
        <p:spPr>
          <a:xfrm>
            <a:off x="3775166" y="2148840"/>
            <a:ext cx="1412095" cy="2377440"/>
          </a:xfrm>
          <a:prstGeom prst="roundRect">
            <a:avLst>
              <a:gd name="adj" fmla="val 5180"/>
            </a:avLst>
          </a:prstGeom>
          <a:solidFill>
            <a:srgbClr val="E8F4EE"/>
          </a:solidFill>
          <a:ln w="12700">
            <a:solidFill>
              <a:srgbClr val="2E8B6A"/>
            </a:solidFill>
            <a:prstDash val="solid"/>
          </a:ln>
          <a:effectLst>
            <a:outerShdw sx="100000" sy="100000" kx="0" ky="0" algn="bl" rotWithShape="0" blurRad="76200" dist="12700" dir="5400000">
              <a:srgbClr val="B4ABCE">
                <a:alpha val="28000"/>
              </a:srgbClr>
            </a:outerShdw>
          </a:effectLst>
        </p:spPr>
      </p:sp>
      <p:sp>
        <p:nvSpPr>
          <p:cNvPr id="17" name="Shape 13"/>
          <p:cNvSpPr/>
          <p:nvPr/>
        </p:nvSpPr>
        <p:spPr>
          <a:xfrm>
            <a:off x="4197749" y="2404872"/>
            <a:ext cx="566928" cy="566928"/>
          </a:xfrm>
          <a:prstGeom prst="ellipse">
            <a:avLst/>
          </a:prstGeom>
          <a:solidFill>
            <a:srgbClr val="F7F5FB"/>
          </a:solidFill>
          <a:ln w="19050">
            <a:solidFill>
              <a:srgbClr val="2E8B6A"/>
            </a:solidFill>
            <a:prstDash val="solid"/>
          </a:ln>
        </p:spPr>
      </p:sp>
      <p:pic>
        <p:nvPicPr>
          <p:cNvPr id="18" name="Image 2" descr="preencoded.png">    </p:cNvPr>
          <p:cNvPicPr>
            <a:picLocks noChangeAspect="1"/>
          </p:cNvPicPr>
          <p:nvPr/>
        </p:nvPicPr>
        <p:blipFill>
          <a:blip r:embed="rId3"/>
          <a:stretch>
            <a:fillRect/>
          </a:stretch>
        </p:blipFill>
        <p:spPr>
          <a:xfrm>
            <a:off x="4339481" y="2546604"/>
            <a:ext cx="283464" cy="283464"/>
          </a:xfrm>
          <a:prstGeom prst="rect">
            <a:avLst/>
          </a:prstGeom>
        </p:spPr>
      </p:pic>
      <p:sp>
        <p:nvSpPr>
          <p:cNvPr id="19" name="Text 14"/>
          <p:cNvSpPr/>
          <p:nvPr/>
        </p:nvSpPr>
        <p:spPr>
          <a:xfrm>
            <a:off x="3820886"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3 · Plan</a:t>
            </a:r>
            <a:endParaRPr lang="en-US" sz="1350" dirty="0"/>
          </a:p>
        </p:txBody>
      </p:sp>
      <p:sp>
        <p:nvSpPr>
          <p:cNvPr id="20" name="Text 15"/>
          <p:cNvSpPr/>
          <p:nvPr/>
        </p:nvSpPr>
        <p:spPr>
          <a:xfrm>
            <a:off x="3857462"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agent-briefed design</a:t>
            </a:r>
            <a:endParaRPr lang="en-US" sz="1000" dirty="0"/>
          </a:p>
        </p:txBody>
      </p:sp>
      <p:sp>
        <p:nvSpPr>
          <p:cNvPr id="21" name="Shape 16"/>
          <p:cNvSpPr/>
          <p:nvPr/>
        </p:nvSpPr>
        <p:spPr>
          <a:xfrm>
            <a:off x="5187261" y="3337560"/>
            <a:ext cx="201168" cy="0"/>
          </a:xfrm>
          <a:prstGeom prst="line">
            <a:avLst/>
          </a:prstGeom>
          <a:noFill/>
          <a:ln w="25400">
            <a:solidFill>
              <a:srgbClr val="B4ABCE"/>
            </a:solidFill>
            <a:prstDash val="solid"/>
            <a:tailEnd type="triangle"/>
          </a:ln>
        </p:spPr>
      </p:sp>
      <p:sp>
        <p:nvSpPr>
          <p:cNvPr id="22" name="Shape 17"/>
          <p:cNvSpPr/>
          <p:nvPr/>
        </p:nvSpPr>
        <p:spPr>
          <a:xfrm>
            <a:off x="5388429" y="2148840"/>
            <a:ext cx="1412095" cy="2377440"/>
          </a:xfrm>
          <a:prstGeom prst="roundRect">
            <a:avLst>
              <a:gd name="adj" fmla="val 5180"/>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3" name="Shape 18"/>
          <p:cNvSpPr/>
          <p:nvPr/>
        </p:nvSpPr>
        <p:spPr>
          <a:xfrm>
            <a:off x="5811012" y="2404872"/>
            <a:ext cx="566928" cy="566928"/>
          </a:xfrm>
          <a:prstGeom prst="ellipse">
            <a:avLst/>
          </a:prstGeom>
          <a:solidFill>
            <a:srgbClr val="F7F5FB"/>
          </a:solidFill>
          <a:ln w="19050">
            <a:solidFill>
              <a:srgbClr val="C96442"/>
            </a:solidFill>
            <a:prstDash val="solid"/>
          </a:ln>
        </p:spPr>
      </p:sp>
      <p:pic>
        <p:nvPicPr>
          <p:cNvPr id="24" name="Image 3" descr="preencoded.png">    </p:cNvPr>
          <p:cNvPicPr>
            <a:picLocks noChangeAspect="1"/>
          </p:cNvPicPr>
          <p:nvPr/>
        </p:nvPicPr>
        <p:blipFill>
          <a:blip r:embed="rId4"/>
          <a:stretch>
            <a:fillRect/>
          </a:stretch>
        </p:blipFill>
        <p:spPr>
          <a:xfrm>
            <a:off x="5952744" y="2546604"/>
            <a:ext cx="283464" cy="283464"/>
          </a:xfrm>
          <a:prstGeom prst="rect">
            <a:avLst/>
          </a:prstGeom>
        </p:spPr>
      </p:pic>
      <p:sp>
        <p:nvSpPr>
          <p:cNvPr id="25" name="Text 19"/>
          <p:cNvSpPr/>
          <p:nvPr/>
        </p:nvSpPr>
        <p:spPr>
          <a:xfrm>
            <a:off x="5434149"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4 · Build</a:t>
            </a:r>
            <a:endParaRPr lang="en-US" sz="1350" dirty="0"/>
          </a:p>
        </p:txBody>
      </p:sp>
      <p:sp>
        <p:nvSpPr>
          <p:cNvPr id="26" name="Text 20"/>
          <p:cNvSpPr/>
          <p:nvPr/>
        </p:nvSpPr>
        <p:spPr>
          <a:xfrm>
            <a:off x="5470725"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domain answers on tap</a:t>
            </a:r>
            <a:endParaRPr lang="en-US" sz="1000" dirty="0"/>
          </a:p>
        </p:txBody>
      </p:sp>
      <p:sp>
        <p:nvSpPr>
          <p:cNvPr id="27" name="Shape 21"/>
          <p:cNvSpPr/>
          <p:nvPr/>
        </p:nvSpPr>
        <p:spPr>
          <a:xfrm>
            <a:off x="6800523" y="3337560"/>
            <a:ext cx="201168" cy="0"/>
          </a:xfrm>
          <a:prstGeom prst="line">
            <a:avLst/>
          </a:prstGeom>
          <a:noFill/>
          <a:ln w="25400">
            <a:solidFill>
              <a:srgbClr val="B4ABCE"/>
            </a:solidFill>
            <a:prstDash val="solid"/>
            <a:tailEnd type="triangle"/>
          </a:ln>
        </p:spPr>
      </p:sp>
      <p:sp>
        <p:nvSpPr>
          <p:cNvPr id="28" name="Shape 22"/>
          <p:cNvSpPr/>
          <p:nvPr/>
        </p:nvSpPr>
        <p:spPr>
          <a:xfrm>
            <a:off x="7001691" y="2148840"/>
            <a:ext cx="1412095" cy="2377440"/>
          </a:xfrm>
          <a:prstGeom prst="roundRect">
            <a:avLst>
              <a:gd name="adj" fmla="val 5180"/>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9" name="Shape 23"/>
          <p:cNvSpPr/>
          <p:nvPr/>
        </p:nvSpPr>
        <p:spPr>
          <a:xfrm>
            <a:off x="7424275" y="2404872"/>
            <a:ext cx="566928" cy="566928"/>
          </a:xfrm>
          <a:prstGeom prst="ellipse">
            <a:avLst/>
          </a:prstGeom>
          <a:solidFill>
            <a:srgbClr val="F7F5FB"/>
          </a:solidFill>
          <a:ln w="19050">
            <a:solidFill>
              <a:srgbClr val="C96442"/>
            </a:solidFill>
            <a:prstDash val="solid"/>
          </a:ln>
        </p:spPr>
      </p:sp>
      <p:pic>
        <p:nvPicPr>
          <p:cNvPr id="30" name="Image 4" descr="preencoded.png">    </p:cNvPr>
          <p:cNvPicPr>
            <a:picLocks noChangeAspect="1"/>
          </p:cNvPicPr>
          <p:nvPr/>
        </p:nvPicPr>
        <p:blipFill>
          <a:blip r:embed="rId5"/>
          <a:stretch>
            <a:fillRect/>
          </a:stretch>
        </p:blipFill>
        <p:spPr>
          <a:xfrm>
            <a:off x="7566007" y="2546604"/>
            <a:ext cx="283464" cy="283464"/>
          </a:xfrm>
          <a:prstGeom prst="rect">
            <a:avLst/>
          </a:prstGeom>
        </p:spPr>
      </p:pic>
      <p:sp>
        <p:nvSpPr>
          <p:cNvPr id="31" name="Text 24"/>
          <p:cNvSpPr/>
          <p:nvPr/>
        </p:nvSpPr>
        <p:spPr>
          <a:xfrm>
            <a:off x="7047411"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5 · Verify</a:t>
            </a:r>
            <a:endParaRPr lang="en-US" sz="1350" dirty="0"/>
          </a:p>
        </p:txBody>
      </p:sp>
      <p:sp>
        <p:nvSpPr>
          <p:cNvPr id="32" name="Text 25"/>
          <p:cNvSpPr/>
          <p:nvPr/>
        </p:nvSpPr>
        <p:spPr>
          <a:xfrm>
            <a:off x="7083987"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spec-aware review + sims</a:t>
            </a:r>
            <a:endParaRPr lang="en-US" sz="1000" dirty="0"/>
          </a:p>
        </p:txBody>
      </p:sp>
      <p:sp>
        <p:nvSpPr>
          <p:cNvPr id="33" name="Shape 26"/>
          <p:cNvSpPr/>
          <p:nvPr/>
        </p:nvSpPr>
        <p:spPr>
          <a:xfrm>
            <a:off x="8413786" y="3337560"/>
            <a:ext cx="201168" cy="0"/>
          </a:xfrm>
          <a:prstGeom prst="line">
            <a:avLst/>
          </a:prstGeom>
          <a:noFill/>
          <a:ln w="25400">
            <a:solidFill>
              <a:srgbClr val="B4ABCE"/>
            </a:solidFill>
            <a:prstDash val="solid"/>
            <a:tailEnd type="triangle"/>
          </a:ln>
        </p:spPr>
      </p:sp>
      <p:sp>
        <p:nvSpPr>
          <p:cNvPr id="34" name="Shape 27"/>
          <p:cNvSpPr/>
          <p:nvPr/>
        </p:nvSpPr>
        <p:spPr>
          <a:xfrm>
            <a:off x="8614954" y="2148840"/>
            <a:ext cx="1412095" cy="2377440"/>
          </a:xfrm>
          <a:prstGeom prst="roundRect">
            <a:avLst>
              <a:gd name="adj" fmla="val 5180"/>
            </a:avLst>
          </a:prstGeom>
          <a:solidFill>
            <a:srgbClr val="E8F4EE"/>
          </a:solidFill>
          <a:ln w="12700">
            <a:solidFill>
              <a:srgbClr val="2E8B6A"/>
            </a:solidFill>
            <a:prstDash val="solid"/>
          </a:ln>
          <a:effectLst>
            <a:outerShdw sx="100000" sy="100000" kx="0" ky="0" algn="bl" rotWithShape="0" blurRad="76200" dist="12700" dir="5400000">
              <a:srgbClr val="B4ABCE">
                <a:alpha val="28000"/>
              </a:srgbClr>
            </a:outerShdw>
          </a:effectLst>
        </p:spPr>
      </p:sp>
      <p:sp>
        <p:nvSpPr>
          <p:cNvPr id="35" name="Shape 28"/>
          <p:cNvSpPr/>
          <p:nvPr/>
        </p:nvSpPr>
        <p:spPr>
          <a:xfrm>
            <a:off x="9037538" y="2404872"/>
            <a:ext cx="566928" cy="566928"/>
          </a:xfrm>
          <a:prstGeom prst="ellipse">
            <a:avLst/>
          </a:prstGeom>
          <a:solidFill>
            <a:srgbClr val="F7F5FB"/>
          </a:solidFill>
          <a:ln w="19050">
            <a:solidFill>
              <a:srgbClr val="2E8B6A"/>
            </a:solidFill>
            <a:prstDash val="solid"/>
          </a:ln>
        </p:spPr>
      </p:sp>
      <p:pic>
        <p:nvPicPr>
          <p:cNvPr id="36" name="Image 5" descr="preencoded.png">    </p:cNvPr>
          <p:cNvPicPr>
            <a:picLocks noChangeAspect="1"/>
          </p:cNvPicPr>
          <p:nvPr/>
        </p:nvPicPr>
        <p:blipFill>
          <a:blip r:embed="rId6"/>
          <a:stretch>
            <a:fillRect/>
          </a:stretch>
        </p:blipFill>
        <p:spPr>
          <a:xfrm>
            <a:off x="9179270" y="2546604"/>
            <a:ext cx="283464" cy="283464"/>
          </a:xfrm>
          <a:prstGeom prst="rect">
            <a:avLst/>
          </a:prstGeom>
        </p:spPr>
      </p:pic>
      <p:sp>
        <p:nvSpPr>
          <p:cNvPr id="37" name="Text 29"/>
          <p:cNvSpPr/>
          <p:nvPr/>
        </p:nvSpPr>
        <p:spPr>
          <a:xfrm>
            <a:off x="8660674"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6 · Ship</a:t>
            </a:r>
            <a:endParaRPr lang="en-US" sz="1350" dirty="0"/>
          </a:p>
        </p:txBody>
      </p:sp>
      <p:sp>
        <p:nvSpPr>
          <p:cNvPr id="38" name="Text 30"/>
          <p:cNvSpPr/>
          <p:nvPr/>
        </p:nvSpPr>
        <p:spPr>
          <a:xfrm>
            <a:off x="8697250"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merge = retrain</a:t>
            </a:r>
            <a:endParaRPr lang="en-US" sz="1000" dirty="0"/>
          </a:p>
        </p:txBody>
      </p:sp>
      <p:sp>
        <p:nvSpPr>
          <p:cNvPr id="39" name="Shape 31"/>
          <p:cNvSpPr/>
          <p:nvPr/>
        </p:nvSpPr>
        <p:spPr>
          <a:xfrm>
            <a:off x="10027049" y="3337560"/>
            <a:ext cx="201168" cy="0"/>
          </a:xfrm>
          <a:prstGeom prst="line">
            <a:avLst/>
          </a:prstGeom>
          <a:noFill/>
          <a:ln w="25400">
            <a:solidFill>
              <a:srgbClr val="B4ABCE"/>
            </a:solidFill>
            <a:prstDash val="solid"/>
            <a:tailEnd type="triangle"/>
          </a:ln>
        </p:spPr>
      </p:sp>
      <p:sp>
        <p:nvSpPr>
          <p:cNvPr id="40" name="Shape 32"/>
          <p:cNvSpPr/>
          <p:nvPr/>
        </p:nvSpPr>
        <p:spPr>
          <a:xfrm>
            <a:off x="10228217" y="2148840"/>
            <a:ext cx="1412095" cy="2377440"/>
          </a:xfrm>
          <a:prstGeom prst="roundRect">
            <a:avLst>
              <a:gd name="adj" fmla="val 5180"/>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41" name="Shape 33"/>
          <p:cNvSpPr/>
          <p:nvPr/>
        </p:nvSpPr>
        <p:spPr>
          <a:xfrm>
            <a:off x="10650801" y="2404872"/>
            <a:ext cx="566928" cy="566928"/>
          </a:xfrm>
          <a:prstGeom prst="ellipse">
            <a:avLst/>
          </a:prstGeom>
          <a:solidFill>
            <a:srgbClr val="F7F5FB"/>
          </a:solidFill>
          <a:ln w="19050">
            <a:solidFill>
              <a:srgbClr val="6D4AEF"/>
            </a:solidFill>
            <a:prstDash val="solid"/>
          </a:ln>
        </p:spPr>
      </p:sp>
      <p:pic>
        <p:nvPicPr>
          <p:cNvPr id="42" name="Image 6" descr="preencoded.png">    </p:cNvPr>
          <p:cNvPicPr>
            <a:picLocks noChangeAspect="1"/>
          </p:cNvPicPr>
          <p:nvPr/>
        </p:nvPicPr>
        <p:blipFill>
          <a:blip r:embed="rId7"/>
          <a:stretch>
            <a:fillRect/>
          </a:stretch>
        </p:blipFill>
        <p:spPr>
          <a:xfrm>
            <a:off x="10792533" y="2546604"/>
            <a:ext cx="283464" cy="283464"/>
          </a:xfrm>
          <a:prstGeom prst="rect">
            <a:avLst/>
          </a:prstGeom>
        </p:spPr>
      </p:pic>
      <p:sp>
        <p:nvSpPr>
          <p:cNvPr id="43" name="Text 34"/>
          <p:cNvSpPr/>
          <p:nvPr/>
        </p:nvSpPr>
        <p:spPr>
          <a:xfrm>
            <a:off x="10273937" y="3108960"/>
            <a:ext cx="1320655" cy="310896"/>
          </a:xfrm>
          <a:prstGeom prst="rect">
            <a:avLst/>
          </a:prstGeom>
          <a:noFill/>
          <a:ln/>
        </p:spPr>
        <p:txBody>
          <a:bodyPr wrap="square" lIns="0" tIns="0" rIns="0" bIns="0" rtlCol="0" anchor="ctr"/>
          <a:lstStyle/>
          <a:p>
            <a:pPr algn="ctr" indent="0" marL="0">
              <a:buNone/>
            </a:pPr>
            <a:r>
              <a:rPr lang="en-US" sz="1350" b="1" dirty="0">
                <a:solidFill>
                  <a:srgbClr val="201A2E"/>
                </a:solidFill>
                <a:latin typeface="Arial" pitchFamily="34" charset="0"/>
                <a:ea typeface="Arial" pitchFamily="34" charset="-122"/>
                <a:cs typeface="Arial" pitchFamily="34" charset="-120"/>
              </a:rPr>
              <a:t>7 · Learn</a:t>
            </a:r>
            <a:endParaRPr lang="en-US" sz="1350" dirty="0"/>
          </a:p>
        </p:txBody>
      </p:sp>
      <p:sp>
        <p:nvSpPr>
          <p:cNvPr id="44" name="Text 35"/>
          <p:cNvSpPr/>
          <p:nvPr/>
        </p:nvSpPr>
        <p:spPr>
          <a:xfrm>
            <a:off x="10310513" y="3447288"/>
            <a:ext cx="1247503" cy="914400"/>
          </a:xfrm>
          <a:prstGeom prst="rect">
            <a:avLst/>
          </a:prstGeom>
          <a:noFill/>
          <a:ln/>
        </p:spPr>
        <p:txBody>
          <a:bodyPr wrap="square" lIns="0" tIns="0" rIns="0" bIns="0" rtlCol="0" anchor="ctr"/>
          <a:lstStyle/>
          <a:p>
            <a:pPr algn="ctr" indent="0" marL="0">
              <a:lnSpc>
                <a:spcPts val="1300"/>
              </a:lnSpc>
              <a:buNone/>
            </a:pPr>
            <a:r>
              <a:rPr lang="en-US" sz="1000" dirty="0">
                <a:solidFill>
                  <a:srgbClr val="5A5170"/>
                </a:solidFill>
                <a:latin typeface="Arial" pitchFamily="34" charset="0"/>
                <a:ea typeface="Arial" pitchFamily="34" charset="-122"/>
                <a:cs typeface="Arial" pitchFamily="34" charset="-120"/>
              </a:rPr>
              <a:t>usage → next backlog</a:t>
            </a:r>
            <a:endParaRPr lang="en-US" sz="1000" dirty="0"/>
          </a:p>
        </p:txBody>
      </p:sp>
      <p:sp>
        <p:nvSpPr>
          <p:cNvPr id="45" name="Shape 36"/>
          <p:cNvSpPr/>
          <p:nvPr/>
        </p:nvSpPr>
        <p:spPr>
          <a:xfrm>
            <a:off x="1254687" y="4526280"/>
            <a:ext cx="0" cy="411480"/>
          </a:xfrm>
          <a:prstGeom prst="line">
            <a:avLst/>
          </a:prstGeom>
          <a:noFill/>
          <a:ln w="25400">
            <a:solidFill>
              <a:srgbClr val="2E8B6A"/>
            </a:solidFill>
            <a:prstDash val="solid"/>
          </a:ln>
        </p:spPr>
      </p:sp>
      <p:sp>
        <p:nvSpPr>
          <p:cNvPr id="46" name="Shape 37"/>
          <p:cNvSpPr/>
          <p:nvPr/>
        </p:nvSpPr>
        <p:spPr>
          <a:xfrm>
            <a:off x="1254687" y="4937760"/>
            <a:ext cx="9679577" cy="0"/>
          </a:xfrm>
          <a:prstGeom prst="line">
            <a:avLst/>
          </a:prstGeom>
          <a:noFill/>
          <a:ln w="25400">
            <a:solidFill>
              <a:srgbClr val="2E8B6A"/>
            </a:solidFill>
            <a:prstDash val="solid"/>
          </a:ln>
        </p:spPr>
      </p:sp>
      <p:sp>
        <p:nvSpPr>
          <p:cNvPr id="47" name="Shape 38"/>
          <p:cNvSpPr/>
          <p:nvPr/>
        </p:nvSpPr>
        <p:spPr>
          <a:xfrm>
            <a:off x="10934265" y="4937760"/>
            <a:ext cx="0" cy="-411480"/>
          </a:xfrm>
          <a:prstGeom prst="line">
            <a:avLst/>
          </a:prstGeom>
          <a:noFill/>
          <a:ln w="25400">
            <a:solidFill>
              <a:srgbClr val="2E8B6A"/>
            </a:solidFill>
            <a:prstDash val="solid"/>
          </a:ln>
        </p:spPr>
      </p:sp>
      <p:sp>
        <p:nvSpPr>
          <p:cNvPr id="48" name="Shape 39"/>
          <p:cNvSpPr/>
          <p:nvPr/>
        </p:nvSpPr>
        <p:spPr>
          <a:xfrm>
            <a:off x="1254687" y="4937760"/>
            <a:ext cx="0" cy="-914"/>
          </a:xfrm>
          <a:prstGeom prst="line">
            <a:avLst/>
          </a:prstGeom>
          <a:noFill/>
          <a:ln/>
        </p:spPr>
      </p:sp>
      <p:sp>
        <p:nvSpPr>
          <p:cNvPr id="49" name="Text 40"/>
          <p:cNvSpPr/>
          <p:nvPr/>
        </p:nvSpPr>
        <p:spPr>
          <a:xfrm>
            <a:off x="548640" y="5010912"/>
            <a:ext cx="11091672" cy="274320"/>
          </a:xfrm>
          <a:prstGeom prst="rect">
            <a:avLst/>
          </a:prstGeom>
          <a:noFill/>
          <a:ln/>
        </p:spPr>
        <p:txBody>
          <a:bodyPr wrap="square" lIns="0" tIns="0" rIns="0" bIns="0" rtlCol="0" anchor="ctr"/>
          <a:lstStyle/>
          <a:p>
            <a:pPr algn="ctr" indent="0" marL="0">
              <a:buNone/>
            </a:pPr>
            <a:r>
              <a:rPr lang="en-US" sz="1000" dirty="0">
                <a:solidFill>
                  <a:srgbClr val="2E8B6A"/>
                </a:solidFill>
                <a:latin typeface="Courier New" pitchFamily="34" charset="0"/>
                <a:ea typeface="Courier New" pitchFamily="34" charset="-122"/>
                <a:cs typeface="Courier New" pitchFamily="34" charset="-120"/>
              </a:rPr>
              <a:t>the loop: usage becomes the next backlog — with better inputs than last time</a:t>
            </a:r>
            <a:endParaRPr lang="en-US" sz="1000" dirty="0"/>
          </a:p>
        </p:txBody>
      </p:sp>
      <p:sp>
        <p:nvSpPr>
          <p:cNvPr id="50" name="Text 41"/>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51" name="Shape 42"/>
          <p:cNvSpPr/>
          <p:nvPr/>
        </p:nvSpPr>
        <p:spPr>
          <a:xfrm>
            <a:off x="548640" y="1627632"/>
            <a:ext cx="164592" cy="164592"/>
          </a:xfrm>
          <a:prstGeom prst="roundRect">
            <a:avLst>
              <a:gd name="adj" fmla="val 27778"/>
            </a:avLst>
          </a:prstGeom>
          <a:solidFill>
            <a:srgbClr val="6D4AEF"/>
          </a:solidFill>
          <a:ln/>
        </p:spPr>
      </p:sp>
      <p:sp>
        <p:nvSpPr>
          <p:cNvPr id="52" name="Text 43"/>
          <p:cNvSpPr/>
          <p:nvPr/>
        </p:nvSpPr>
        <p:spPr>
          <a:xfrm>
            <a:off x="786384" y="1563624"/>
            <a:ext cx="3108960" cy="274320"/>
          </a:xfrm>
          <a:prstGeom prst="rect">
            <a:avLst/>
          </a:prstGeom>
          <a:noFill/>
          <a:ln/>
        </p:spPr>
        <p:txBody>
          <a:bodyPr wrap="square" lIns="0" tIns="0" rIns="0" bIns="0" rtlCol="0" anchor="ctr"/>
          <a:lstStyle/>
          <a:p>
            <a:pPr indent="0" marL="0">
              <a:buNone/>
            </a:pPr>
            <a:r>
              <a:rPr lang="en-US" sz="1100" dirty="0">
                <a:solidFill>
                  <a:srgbClr val="5A5170"/>
                </a:solidFill>
                <a:latin typeface="Arial" pitchFamily="34" charset="0"/>
                <a:ea typeface="Arial" pitchFamily="34" charset="-122"/>
                <a:cs typeface="Arial" pitchFamily="34" charset="-120"/>
              </a:rPr>
              <a:t>PM lane · raia surfaces</a:t>
            </a:r>
            <a:endParaRPr lang="en-US" sz="1100" dirty="0"/>
          </a:p>
        </p:txBody>
      </p:sp>
      <p:sp>
        <p:nvSpPr>
          <p:cNvPr id="53" name="Shape 44"/>
          <p:cNvSpPr/>
          <p:nvPr/>
        </p:nvSpPr>
        <p:spPr>
          <a:xfrm>
            <a:off x="2968142" y="1627632"/>
            <a:ext cx="164592" cy="164592"/>
          </a:xfrm>
          <a:prstGeom prst="roundRect">
            <a:avLst>
              <a:gd name="adj" fmla="val 27778"/>
            </a:avLst>
          </a:prstGeom>
          <a:solidFill>
            <a:srgbClr val="C96442"/>
          </a:solidFill>
          <a:ln/>
        </p:spPr>
      </p:sp>
      <p:sp>
        <p:nvSpPr>
          <p:cNvPr id="54" name="Text 45"/>
          <p:cNvSpPr/>
          <p:nvPr/>
        </p:nvSpPr>
        <p:spPr>
          <a:xfrm>
            <a:off x="3205886" y="1563624"/>
            <a:ext cx="3108960" cy="274320"/>
          </a:xfrm>
          <a:prstGeom prst="rect">
            <a:avLst/>
          </a:prstGeom>
          <a:noFill/>
          <a:ln/>
        </p:spPr>
        <p:txBody>
          <a:bodyPr wrap="square" lIns="0" tIns="0" rIns="0" bIns="0" rtlCol="0" anchor="ctr"/>
          <a:lstStyle/>
          <a:p>
            <a:pPr indent="0" marL="0">
              <a:buNone/>
            </a:pPr>
            <a:r>
              <a:rPr lang="en-US" sz="1100" dirty="0">
                <a:solidFill>
                  <a:srgbClr val="5A5170"/>
                </a:solidFill>
                <a:latin typeface="Arial" pitchFamily="34" charset="0"/>
                <a:ea typeface="Arial" pitchFamily="34" charset="-122"/>
                <a:cs typeface="Arial" pitchFamily="34" charset="-120"/>
              </a:rPr>
              <a:t>Developer lane · coding agent</a:t>
            </a:r>
            <a:endParaRPr lang="en-US" sz="1100" dirty="0"/>
          </a:p>
        </p:txBody>
      </p:sp>
      <p:sp>
        <p:nvSpPr>
          <p:cNvPr id="55" name="Shape 46"/>
          <p:cNvSpPr/>
          <p:nvPr/>
        </p:nvSpPr>
        <p:spPr>
          <a:xfrm>
            <a:off x="5837530" y="1627632"/>
            <a:ext cx="164592" cy="164592"/>
          </a:xfrm>
          <a:prstGeom prst="roundRect">
            <a:avLst>
              <a:gd name="adj" fmla="val 27778"/>
            </a:avLst>
          </a:prstGeom>
          <a:solidFill>
            <a:srgbClr val="2E8B6A"/>
          </a:solidFill>
          <a:ln/>
        </p:spPr>
      </p:sp>
      <p:sp>
        <p:nvSpPr>
          <p:cNvPr id="56" name="Text 47"/>
          <p:cNvSpPr/>
          <p:nvPr/>
        </p:nvSpPr>
        <p:spPr>
          <a:xfrm>
            <a:off x="6075274" y="1563624"/>
            <a:ext cx="3108960" cy="274320"/>
          </a:xfrm>
          <a:prstGeom prst="rect">
            <a:avLst/>
          </a:prstGeom>
          <a:noFill/>
          <a:ln/>
        </p:spPr>
        <p:txBody>
          <a:bodyPr wrap="square" lIns="0" tIns="0" rIns="0" bIns="0" rtlCol="0" anchor="ctr"/>
          <a:lstStyle/>
          <a:p>
            <a:pPr indent="0" marL="0">
              <a:buNone/>
            </a:pPr>
            <a:r>
              <a:rPr lang="en-US" sz="1100" dirty="0">
                <a:solidFill>
                  <a:srgbClr val="5A5170"/>
                </a:solidFill>
                <a:latin typeface="Arial" pitchFamily="34" charset="0"/>
                <a:ea typeface="Arial" pitchFamily="34" charset="-122"/>
                <a:cs typeface="Arial" pitchFamily="34" charset="-120"/>
              </a:rPr>
              <a:t>knowledge crossing the loop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TRACK A · BUILD</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Developer plays</a:t>
            </a:r>
            <a:endParaRPr lang="en-US" sz="3000" dirty="0"/>
          </a:p>
        </p:txBody>
      </p:sp>
      <p:sp>
        <p:nvSpPr>
          <p:cNvPr id="4" name="Shape 2"/>
          <p:cNvSpPr/>
          <p:nvPr/>
        </p:nvSpPr>
        <p:spPr>
          <a:xfrm>
            <a:off x="548640" y="1600200"/>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04672" y="1856232"/>
            <a:ext cx="502920" cy="292608"/>
          </a:xfrm>
          <a:prstGeom prst="roundRect">
            <a:avLst>
              <a:gd name="adj" fmla="val 28125"/>
            </a:avLst>
          </a:prstGeom>
          <a:solidFill>
            <a:srgbClr val="FBEFE9"/>
          </a:solidFill>
          <a:ln w="9525">
            <a:solidFill>
              <a:srgbClr val="C96442"/>
            </a:solidFill>
            <a:prstDash val="solid"/>
          </a:ln>
        </p:spPr>
      </p:sp>
      <p:sp>
        <p:nvSpPr>
          <p:cNvPr id="6" name="Text 4"/>
          <p:cNvSpPr/>
          <p:nvPr/>
        </p:nvSpPr>
        <p:spPr>
          <a:xfrm>
            <a:off x="804672" y="1842516"/>
            <a:ext cx="502920" cy="320040"/>
          </a:xfrm>
          <a:prstGeom prst="rect">
            <a:avLst/>
          </a:prstGeom>
          <a:noFill/>
          <a:ln/>
        </p:spPr>
        <p:txBody>
          <a:bodyPr wrap="square" lIns="0" tIns="0" rIns="0" bIns="0" rtlCol="0" anchor="ctr"/>
          <a:lstStyle/>
          <a:p>
            <a:pPr algn="ctr" indent="0" marL="0">
              <a:buNone/>
            </a:pPr>
            <a:r>
              <a:rPr lang="en-US" sz="1200" b="1" dirty="0">
                <a:solidFill>
                  <a:srgbClr val="C96442"/>
                </a:solidFill>
                <a:latin typeface="Courier New" pitchFamily="34" charset="0"/>
                <a:ea typeface="Courier New" pitchFamily="34" charset="-122"/>
                <a:cs typeface="Courier New" pitchFamily="34" charset="-120"/>
              </a:rPr>
              <a:t>A2</a:t>
            </a:r>
            <a:endParaRPr lang="en-US" sz="1200" dirty="0"/>
          </a:p>
        </p:txBody>
      </p:sp>
      <p:sp>
        <p:nvSpPr>
          <p:cNvPr id="7" name="Text 5"/>
          <p:cNvSpPr/>
          <p:nvPr/>
        </p:nvSpPr>
        <p:spPr>
          <a:xfrm>
            <a:off x="1508760" y="1764792"/>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Agent-briefed planning</a:t>
            </a:r>
            <a:endParaRPr lang="en-US" sz="1500" dirty="0"/>
          </a:p>
        </p:txBody>
      </p:sp>
      <p:sp>
        <p:nvSpPr>
          <p:cNvPr id="8" name="Text 6"/>
          <p:cNvSpPr/>
          <p:nvPr/>
        </p:nvSpPr>
        <p:spPr>
          <a:xfrm>
            <a:off x="1508760" y="2103120"/>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Never plan from ticket text alone. Plan mode interrogates the Product Agent (constraints, acceptance criteria) and the Codebase Agent (prior art, architecture rationale) before proposing an approach.</a:t>
            </a:r>
            <a:endParaRPr lang="en-US" sz="1150" dirty="0"/>
          </a:p>
        </p:txBody>
      </p:sp>
      <p:sp>
        <p:nvSpPr>
          <p:cNvPr id="9" name="Text 7"/>
          <p:cNvSpPr/>
          <p:nvPr/>
        </p:nvSpPr>
        <p:spPr>
          <a:xfrm>
            <a:off x="8641080" y="1819656"/>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Fewer “built the wrong thing” reworks.</a:t>
            </a:r>
            <a:endParaRPr lang="en-US" sz="850" dirty="0"/>
          </a:p>
        </p:txBody>
      </p:sp>
      <p:sp>
        <p:nvSpPr>
          <p:cNvPr id="10" name="Shape 8"/>
          <p:cNvSpPr/>
          <p:nvPr/>
        </p:nvSpPr>
        <p:spPr>
          <a:xfrm>
            <a:off x="548640" y="3218688"/>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1" name="Shape 9"/>
          <p:cNvSpPr/>
          <p:nvPr/>
        </p:nvSpPr>
        <p:spPr>
          <a:xfrm>
            <a:off x="804672" y="3474720"/>
            <a:ext cx="502920" cy="292608"/>
          </a:xfrm>
          <a:prstGeom prst="roundRect">
            <a:avLst>
              <a:gd name="adj" fmla="val 28125"/>
            </a:avLst>
          </a:prstGeom>
          <a:solidFill>
            <a:srgbClr val="FBEFE9"/>
          </a:solidFill>
          <a:ln w="9525">
            <a:solidFill>
              <a:srgbClr val="C96442"/>
            </a:solidFill>
            <a:prstDash val="solid"/>
          </a:ln>
        </p:spPr>
      </p:sp>
      <p:sp>
        <p:nvSpPr>
          <p:cNvPr id="12" name="Text 10"/>
          <p:cNvSpPr/>
          <p:nvPr/>
        </p:nvSpPr>
        <p:spPr>
          <a:xfrm>
            <a:off x="804672" y="3461004"/>
            <a:ext cx="502920" cy="320040"/>
          </a:xfrm>
          <a:prstGeom prst="rect">
            <a:avLst/>
          </a:prstGeom>
          <a:noFill/>
          <a:ln/>
        </p:spPr>
        <p:txBody>
          <a:bodyPr wrap="square" lIns="0" tIns="0" rIns="0" bIns="0" rtlCol="0" anchor="ctr"/>
          <a:lstStyle/>
          <a:p>
            <a:pPr algn="ctr" indent="0" marL="0">
              <a:buNone/>
            </a:pPr>
            <a:r>
              <a:rPr lang="en-US" sz="1200" b="1" dirty="0">
                <a:solidFill>
                  <a:srgbClr val="C96442"/>
                </a:solidFill>
                <a:latin typeface="Courier New" pitchFamily="34" charset="0"/>
                <a:ea typeface="Courier New" pitchFamily="34" charset="-122"/>
                <a:cs typeface="Courier New" pitchFamily="34" charset="-120"/>
              </a:rPr>
              <a:t>A3</a:t>
            </a:r>
            <a:endParaRPr lang="en-US" sz="1200" dirty="0"/>
          </a:p>
        </p:txBody>
      </p:sp>
      <p:sp>
        <p:nvSpPr>
          <p:cNvPr id="13" name="Text 11"/>
          <p:cNvSpPr/>
          <p:nvPr/>
        </p:nvSpPr>
        <p:spPr>
          <a:xfrm>
            <a:off x="1508760" y="3383280"/>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Domain questions stay in-session</a:t>
            </a:r>
            <a:endParaRPr lang="en-US" sz="1500" dirty="0"/>
          </a:p>
        </p:txBody>
      </p:sp>
      <p:sp>
        <p:nvSpPr>
          <p:cNvPr id="14" name="Text 12"/>
          <p:cNvSpPr/>
          <p:nvPr/>
        </p:nvSpPr>
        <p:spPr>
          <a:xfrm>
            <a:off x="1508760" y="3721608"/>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Business rule → Product Agent. Legacy intent → Codebase Agent. Real-world usage → Support Agent. No more interrupt-driven archaeology across the org.</a:t>
            </a:r>
            <a:endParaRPr lang="en-US" sz="1150" dirty="0"/>
          </a:p>
        </p:txBody>
      </p:sp>
      <p:sp>
        <p:nvSpPr>
          <p:cNvPr id="15" name="Text 13"/>
          <p:cNvSpPr/>
          <p:nvPr/>
        </p:nvSpPr>
        <p:spPr>
          <a:xfrm>
            <a:off x="8641080" y="3438144"/>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Interrupts drop; gaps become retraining items.</a:t>
            </a:r>
            <a:endParaRPr lang="en-US" sz="850" dirty="0"/>
          </a:p>
        </p:txBody>
      </p:sp>
      <p:sp>
        <p:nvSpPr>
          <p:cNvPr id="16" name="Shape 14"/>
          <p:cNvSpPr/>
          <p:nvPr/>
        </p:nvSpPr>
        <p:spPr>
          <a:xfrm>
            <a:off x="548640" y="4837176"/>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7" name="Shape 15"/>
          <p:cNvSpPr/>
          <p:nvPr/>
        </p:nvSpPr>
        <p:spPr>
          <a:xfrm>
            <a:off x="804672" y="5093208"/>
            <a:ext cx="502920" cy="292608"/>
          </a:xfrm>
          <a:prstGeom prst="roundRect">
            <a:avLst>
              <a:gd name="adj" fmla="val 28125"/>
            </a:avLst>
          </a:prstGeom>
          <a:solidFill>
            <a:srgbClr val="FBEFE9"/>
          </a:solidFill>
          <a:ln w="9525">
            <a:solidFill>
              <a:srgbClr val="C96442"/>
            </a:solidFill>
            <a:prstDash val="solid"/>
          </a:ln>
        </p:spPr>
      </p:sp>
      <p:sp>
        <p:nvSpPr>
          <p:cNvPr id="18" name="Text 16"/>
          <p:cNvSpPr/>
          <p:nvPr/>
        </p:nvSpPr>
        <p:spPr>
          <a:xfrm>
            <a:off x="804672" y="5079492"/>
            <a:ext cx="502920" cy="320040"/>
          </a:xfrm>
          <a:prstGeom prst="rect">
            <a:avLst/>
          </a:prstGeom>
          <a:noFill/>
          <a:ln/>
        </p:spPr>
        <p:txBody>
          <a:bodyPr wrap="square" lIns="0" tIns="0" rIns="0" bIns="0" rtlCol="0" anchor="ctr"/>
          <a:lstStyle/>
          <a:p>
            <a:pPr algn="ctr" indent="0" marL="0">
              <a:buNone/>
            </a:pPr>
            <a:r>
              <a:rPr lang="en-US" sz="1200" b="1" dirty="0">
                <a:solidFill>
                  <a:srgbClr val="C96442"/>
                </a:solidFill>
                <a:latin typeface="Courier New" pitchFamily="34" charset="0"/>
                <a:ea typeface="Courier New" pitchFamily="34" charset="-122"/>
                <a:cs typeface="Courier New" pitchFamily="34" charset="-120"/>
              </a:rPr>
              <a:t>A4</a:t>
            </a:r>
            <a:endParaRPr lang="en-US" sz="1200" dirty="0"/>
          </a:p>
        </p:txBody>
      </p:sp>
      <p:sp>
        <p:nvSpPr>
          <p:cNvPr id="19" name="Text 17"/>
          <p:cNvSpPr/>
          <p:nvPr/>
        </p:nvSpPr>
        <p:spPr>
          <a:xfrm>
            <a:off x="1508760" y="5001768"/>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Spec-aware review gate</a:t>
            </a:r>
            <a:endParaRPr lang="en-US" sz="1500" dirty="0"/>
          </a:p>
        </p:txBody>
      </p:sp>
      <p:sp>
        <p:nvSpPr>
          <p:cNvPr id="20" name="Text 18"/>
          <p:cNvSpPr/>
          <p:nvPr/>
        </p:nvSpPr>
        <p:spPr>
          <a:xfrm>
            <a:off x="1508760" y="5340096"/>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A repo skill summarizes the diff's behavior changes and asks the Product Agent: “does this match the spec?” Mismatches land as PR comments beside code review.</a:t>
            </a:r>
            <a:endParaRPr lang="en-US" sz="1150" dirty="0"/>
          </a:p>
        </p:txBody>
      </p:sp>
      <p:sp>
        <p:nvSpPr>
          <p:cNvPr id="21" name="Text 19"/>
          <p:cNvSpPr/>
          <p:nvPr/>
        </p:nvSpPr>
        <p:spPr>
          <a:xfrm>
            <a:off x="8641080" y="5056632"/>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Deviations caught at PR time, not UAT.</a:t>
            </a:r>
            <a:endParaRPr lang="en-US" sz="850" dirty="0"/>
          </a:p>
        </p:txBody>
      </p:sp>
      <p:sp>
        <p:nvSpPr>
          <p:cNvPr id="22" name="Text 20"/>
          <p:cNvSpPr/>
          <p:nvPr/>
        </p:nvSpPr>
        <p:spPr>
          <a:xfrm>
            <a:off x="548640" y="6355080"/>
            <a:ext cx="11091672" cy="320040"/>
          </a:xfrm>
          <a:prstGeom prst="rect">
            <a:avLst/>
          </a:prstGeom>
          <a:noFill/>
          <a:ln/>
        </p:spPr>
        <p:txBody>
          <a:bodyPr wrap="square" lIns="0" tIns="0" rIns="0" bIns="0" rtlCol="0" anchor="ctr"/>
          <a:lstStyle/>
          <a:p>
            <a:pPr indent="0" marL="0">
              <a:buNone/>
            </a:pPr>
            <a:r>
              <a:rPr lang="en-US" sz="1200" b="1" dirty="0">
                <a:solidFill>
                  <a:srgbClr val="201A2E"/>
                </a:solidFill>
                <a:latin typeface="Arial" pitchFamily="34" charset="0"/>
                <a:ea typeface="Arial" pitchFamily="34" charset="-122"/>
                <a:cs typeface="Arial" pitchFamily="34" charset="-120"/>
              </a:rPr>
              <a:t>Trust rule: </a:t>
            </a:r>
            <a:pPr indent="0" marL="0">
              <a:buNone/>
            </a:pPr>
            <a:r>
              <a:rPr lang="en-US" sz="1200" dirty="0">
                <a:solidFill>
                  <a:srgbClr val="5A5170"/>
                </a:solidFill>
                <a:latin typeface="Arial" pitchFamily="34" charset="0"/>
                <a:ea typeface="Arial" pitchFamily="34" charset="-122"/>
                <a:cs typeface="Arial" pitchFamily="34" charset="-120"/>
              </a:rPr>
              <a:t>agent answers are context, not authority — verify against the code; file bad answers as retraining items.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TRACK B · SUPPORT</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Support plays</a:t>
            </a:r>
            <a:endParaRPr lang="en-US" sz="3000" dirty="0"/>
          </a:p>
        </p:txBody>
      </p:sp>
      <p:sp>
        <p:nvSpPr>
          <p:cNvPr id="4" name="Shape 2"/>
          <p:cNvSpPr/>
          <p:nvPr/>
        </p:nvSpPr>
        <p:spPr>
          <a:xfrm>
            <a:off x="548640" y="1600200"/>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04672" y="1856232"/>
            <a:ext cx="502920" cy="292608"/>
          </a:xfrm>
          <a:prstGeom prst="roundRect">
            <a:avLst>
              <a:gd name="adj" fmla="val 28125"/>
            </a:avLst>
          </a:prstGeom>
          <a:solidFill>
            <a:srgbClr val="F1EDFF"/>
          </a:solidFill>
          <a:ln w="9525">
            <a:solidFill>
              <a:srgbClr val="6D4AEF"/>
            </a:solidFill>
            <a:prstDash val="solid"/>
          </a:ln>
        </p:spPr>
      </p:sp>
      <p:sp>
        <p:nvSpPr>
          <p:cNvPr id="6" name="Text 4"/>
          <p:cNvSpPr/>
          <p:nvPr/>
        </p:nvSpPr>
        <p:spPr>
          <a:xfrm>
            <a:off x="804672" y="1842516"/>
            <a:ext cx="502920" cy="320040"/>
          </a:xfrm>
          <a:prstGeom prst="rect">
            <a:avLst/>
          </a:prstGeom>
          <a:noFill/>
          <a:ln/>
        </p:spPr>
        <p:txBody>
          <a:bodyPr wrap="square" lIns="0" tIns="0" rIns="0" bIns="0" rtlCol="0" anchor="ctr"/>
          <a:lstStyle/>
          <a:p>
            <a:pPr algn="ctr" indent="0" marL="0">
              <a:buNone/>
            </a:pPr>
            <a:r>
              <a:rPr lang="en-US" sz="1200" b="1" dirty="0">
                <a:solidFill>
                  <a:srgbClr val="6D4AEF"/>
                </a:solidFill>
                <a:latin typeface="Courier New" pitchFamily="34" charset="0"/>
                <a:ea typeface="Courier New" pitchFamily="34" charset="-122"/>
                <a:cs typeface="Courier New" pitchFamily="34" charset="-120"/>
              </a:rPr>
              <a:t>B1</a:t>
            </a:r>
            <a:endParaRPr lang="en-US" sz="1200" dirty="0"/>
          </a:p>
        </p:txBody>
      </p:sp>
      <p:sp>
        <p:nvSpPr>
          <p:cNvPr id="7" name="Text 5"/>
          <p:cNvSpPr/>
          <p:nvPr/>
        </p:nvSpPr>
        <p:spPr>
          <a:xfrm>
            <a:off x="1508760" y="1764792"/>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Day-one readiness</a:t>
            </a:r>
            <a:endParaRPr lang="en-US" sz="1500" dirty="0"/>
          </a:p>
        </p:txBody>
      </p:sp>
      <p:sp>
        <p:nvSpPr>
          <p:cNvPr id="8" name="Text 6"/>
          <p:cNvSpPr/>
          <p:nvPr/>
        </p:nvSpPr>
        <p:spPr>
          <a:xfrm>
            <a:off x="1508760" y="2103120"/>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Merging retrained the Support Agent, so it answers questions about a feature the day it ships. The support lead verifies with Copilot simulations instead of writing content.</a:t>
            </a:r>
            <a:endParaRPr lang="en-US" sz="1150" dirty="0"/>
          </a:p>
        </p:txBody>
      </p:sp>
      <p:sp>
        <p:nvSpPr>
          <p:cNvPr id="9" name="Text 7"/>
          <p:cNvSpPr/>
          <p:nvPr/>
        </p:nvSpPr>
        <p:spPr>
          <a:xfrm>
            <a:off x="8641080" y="1819656"/>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Zero lag between shipped and supportable.</a:t>
            </a:r>
            <a:endParaRPr lang="en-US" sz="850" dirty="0"/>
          </a:p>
        </p:txBody>
      </p:sp>
      <p:sp>
        <p:nvSpPr>
          <p:cNvPr id="10" name="Shape 8"/>
          <p:cNvSpPr/>
          <p:nvPr/>
        </p:nvSpPr>
        <p:spPr>
          <a:xfrm>
            <a:off x="548640" y="3218688"/>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1" name="Shape 9"/>
          <p:cNvSpPr/>
          <p:nvPr/>
        </p:nvSpPr>
        <p:spPr>
          <a:xfrm>
            <a:off x="804672" y="3474720"/>
            <a:ext cx="502920" cy="292608"/>
          </a:xfrm>
          <a:prstGeom prst="roundRect">
            <a:avLst>
              <a:gd name="adj" fmla="val 28125"/>
            </a:avLst>
          </a:prstGeom>
          <a:solidFill>
            <a:srgbClr val="F1EDFF"/>
          </a:solidFill>
          <a:ln w="9525">
            <a:solidFill>
              <a:srgbClr val="6D4AEF"/>
            </a:solidFill>
            <a:prstDash val="solid"/>
          </a:ln>
        </p:spPr>
      </p:sp>
      <p:sp>
        <p:nvSpPr>
          <p:cNvPr id="12" name="Text 10"/>
          <p:cNvSpPr/>
          <p:nvPr/>
        </p:nvSpPr>
        <p:spPr>
          <a:xfrm>
            <a:off x="804672" y="3461004"/>
            <a:ext cx="502920" cy="320040"/>
          </a:xfrm>
          <a:prstGeom prst="rect">
            <a:avLst/>
          </a:prstGeom>
          <a:noFill/>
          <a:ln/>
        </p:spPr>
        <p:txBody>
          <a:bodyPr wrap="square" lIns="0" tIns="0" rIns="0" bIns="0" rtlCol="0" anchor="ctr"/>
          <a:lstStyle/>
          <a:p>
            <a:pPr algn="ctr" indent="0" marL="0">
              <a:buNone/>
            </a:pPr>
            <a:r>
              <a:rPr lang="en-US" sz="1200" b="1" dirty="0">
                <a:solidFill>
                  <a:srgbClr val="6D4AEF"/>
                </a:solidFill>
                <a:latin typeface="Courier New" pitchFamily="34" charset="0"/>
                <a:ea typeface="Courier New" pitchFamily="34" charset="-122"/>
                <a:cs typeface="Courier New" pitchFamily="34" charset="-120"/>
              </a:rPr>
              <a:t>B2</a:t>
            </a:r>
            <a:endParaRPr lang="en-US" sz="1200" dirty="0"/>
          </a:p>
        </p:txBody>
      </p:sp>
      <p:sp>
        <p:nvSpPr>
          <p:cNvPr id="13" name="Text 11"/>
          <p:cNvSpPr/>
          <p:nvPr/>
        </p:nvSpPr>
        <p:spPr>
          <a:xfrm>
            <a:off x="1508760" y="3383280"/>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Escalation-to-issue pipeline</a:t>
            </a:r>
            <a:endParaRPr lang="en-US" sz="1500" dirty="0"/>
          </a:p>
        </p:txBody>
      </p:sp>
      <p:sp>
        <p:nvSpPr>
          <p:cNvPr id="14" name="Text 12"/>
          <p:cNvSpPr/>
          <p:nvPr/>
        </p:nvSpPr>
        <p:spPr>
          <a:xfrm>
            <a:off x="1508760" y="3721608"/>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Live Chat bug → triage agent extracts repro steps → GitHub issue tagged from-support. Allowlisted trivial classes get a draft PR from a headless coding session — humans review and merge.</a:t>
            </a:r>
            <a:endParaRPr lang="en-US" sz="1150" dirty="0"/>
          </a:p>
        </p:txBody>
      </p:sp>
      <p:sp>
        <p:nvSpPr>
          <p:cNvPr id="15" name="Text 13"/>
          <p:cNvSpPr/>
          <p:nvPr/>
        </p:nvSpPr>
        <p:spPr>
          <a:xfrm>
            <a:off x="8641080" y="3438144"/>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Bugs arrive with repro steps ≥80% of the time.</a:t>
            </a:r>
            <a:endParaRPr lang="en-US" sz="850" dirty="0"/>
          </a:p>
        </p:txBody>
      </p:sp>
      <p:sp>
        <p:nvSpPr>
          <p:cNvPr id="16" name="Shape 14"/>
          <p:cNvSpPr/>
          <p:nvPr/>
        </p:nvSpPr>
        <p:spPr>
          <a:xfrm>
            <a:off x="548640" y="4837176"/>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7" name="Shape 15"/>
          <p:cNvSpPr/>
          <p:nvPr/>
        </p:nvSpPr>
        <p:spPr>
          <a:xfrm>
            <a:off x="804672" y="5093208"/>
            <a:ext cx="502920" cy="292608"/>
          </a:xfrm>
          <a:prstGeom prst="roundRect">
            <a:avLst>
              <a:gd name="adj" fmla="val 28125"/>
            </a:avLst>
          </a:prstGeom>
          <a:solidFill>
            <a:srgbClr val="F1EDFF"/>
          </a:solidFill>
          <a:ln w="9525">
            <a:solidFill>
              <a:srgbClr val="6D4AEF"/>
            </a:solidFill>
            <a:prstDash val="solid"/>
          </a:ln>
        </p:spPr>
      </p:sp>
      <p:sp>
        <p:nvSpPr>
          <p:cNvPr id="18" name="Text 16"/>
          <p:cNvSpPr/>
          <p:nvPr/>
        </p:nvSpPr>
        <p:spPr>
          <a:xfrm>
            <a:off x="804672" y="5079492"/>
            <a:ext cx="502920" cy="320040"/>
          </a:xfrm>
          <a:prstGeom prst="rect">
            <a:avLst/>
          </a:prstGeom>
          <a:noFill/>
          <a:ln/>
        </p:spPr>
        <p:txBody>
          <a:bodyPr wrap="square" lIns="0" tIns="0" rIns="0" bIns="0" rtlCol="0" anchor="ctr"/>
          <a:lstStyle/>
          <a:p>
            <a:pPr algn="ctr" indent="0" marL="0">
              <a:buNone/>
            </a:pPr>
            <a:r>
              <a:rPr lang="en-US" sz="1200" b="1" dirty="0">
                <a:solidFill>
                  <a:srgbClr val="6D4AEF"/>
                </a:solidFill>
                <a:latin typeface="Courier New" pitchFamily="34" charset="0"/>
                <a:ea typeface="Courier New" pitchFamily="34" charset="-122"/>
                <a:cs typeface="Courier New" pitchFamily="34" charset="-120"/>
              </a:rPr>
              <a:t>B4</a:t>
            </a:r>
            <a:endParaRPr lang="en-US" sz="1200" dirty="0"/>
          </a:p>
        </p:txBody>
      </p:sp>
      <p:sp>
        <p:nvSpPr>
          <p:cNvPr id="19" name="Text 17"/>
          <p:cNvSpPr/>
          <p:nvPr/>
        </p:nvSpPr>
        <p:spPr>
          <a:xfrm>
            <a:off x="1508760" y="5001768"/>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Internal answer desk</a:t>
            </a:r>
            <a:endParaRPr lang="en-US" sz="1500" dirty="0"/>
          </a:p>
        </p:txBody>
      </p:sp>
      <p:sp>
        <p:nvSpPr>
          <p:cNvPr id="20" name="Text 18"/>
          <p:cNvSpPr/>
          <p:nvPr/>
        </p:nvSpPr>
        <p:spPr>
          <a:xfrm>
            <a:off x="1508760" y="5340096"/>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Browser extension, Teams, and Copilot give sales, CS, and leadership the same agents. One truth, many doors — nobody DMs an engineer for a known answer.</a:t>
            </a:r>
            <a:endParaRPr lang="en-US" sz="1150" dirty="0"/>
          </a:p>
        </p:txBody>
      </p:sp>
      <p:sp>
        <p:nvSpPr>
          <p:cNvPr id="21" name="Text 19"/>
          <p:cNvSpPr/>
          <p:nvPr/>
        </p:nvSpPr>
        <p:spPr>
          <a:xfrm>
            <a:off x="8641080" y="5056632"/>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“Quick questions” migrate off engineers.</a:t>
            </a:r>
            <a:endParaRPr lang="en-US" sz="850" dirty="0"/>
          </a:p>
        </p:txBody>
      </p:sp>
      <p:sp>
        <p:nvSpPr>
          <p:cNvPr id="22" name="Text 20"/>
          <p:cNvSpPr/>
          <p:nvPr/>
        </p:nvSpPr>
        <p:spPr>
          <a:xfrm>
            <a:off x="548640" y="6355080"/>
            <a:ext cx="11091672" cy="320040"/>
          </a:xfrm>
          <a:prstGeom prst="rect">
            <a:avLst/>
          </a:prstGeom>
          <a:noFill/>
          <a:ln/>
        </p:spPr>
        <p:txBody>
          <a:bodyPr wrap="square" lIns="0" tIns="0" rIns="0" bIns="0" rtlCol="0" anchor="ctr"/>
          <a:lstStyle/>
          <a:p>
            <a:pPr indent="0" marL="0">
              <a:buNone/>
            </a:pPr>
            <a:r>
              <a:rPr lang="en-US" sz="1200" b="1" dirty="0">
                <a:solidFill>
                  <a:srgbClr val="C96442"/>
                </a:solidFill>
                <a:latin typeface="Arial" pitchFamily="34" charset="0"/>
                <a:ea typeface="Arial" pitchFamily="34" charset="-122"/>
                <a:cs typeface="Arial" pitchFamily="34" charset="-120"/>
              </a:rPr>
              <a:t>Guardrail: </a:t>
            </a:r>
            <a:pPr indent="0" marL="0">
              <a:buNone/>
            </a:pPr>
            <a:r>
              <a:rPr lang="en-US" sz="1200" dirty="0">
                <a:solidFill>
                  <a:srgbClr val="5A5170"/>
                </a:solidFill>
                <a:latin typeface="Arial" pitchFamily="34" charset="0"/>
                <a:ea typeface="Arial" pitchFamily="34" charset="-122"/>
                <a:cs typeface="Arial" pitchFamily="34" charset="-120"/>
              </a:rPr>
              <a:t>draft-PR automation starts with the narrowest class (copy, config) and widens only as its merge rate proves out. Humans gate every merge.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TRACK C · DOCUMENTATION</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The flywheel</a:t>
            </a:r>
            <a:endParaRPr lang="en-US" sz="3000" dirty="0"/>
          </a:p>
        </p:txBody>
      </p:sp>
      <p:sp>
        <p:nvSpPr>
          <p:cNvPr id="4" name="Shape 2"/>
          <p:cNvSpPr/>
          <p:nvPr/>
        </p:nvSpPr>
        <p:spPr>
          <a:xfrm>
            <a:off x="548640" y="1600200"/>
            <a:ext cx="11091672" cy="1417320"/>
          </a:xfrm>
          <a:prstGeom prst="roundRect">
            <a:avLst>
              <a:gd name="adj" fmla="val 5161"/>
            </a:avLst>
          </a:prstGeom>
          <a:solidFill>
            <a:srgbClr val="E8F4EE"/>
          </a:solidFill>
          <a:ln w="12700">
            <a:solidFill>
              <a:srgbClr val="2E8B6A"/>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04672" y="1856232"/>
            <a:ext cx="502920" cy="292608"/>
          </a:xfrm>
          <a:prstGeom prst="roundRect">
            <a:avLst>
              <a:gd name="adj" fmla="val 28125"/>
            </a:avLst>
          </a:prstGeom>
          <a:solidFill>
            <a:srgbClr val="FFFFFF"/>
          </a:solidFill>
          <a:ln w="9525">
            <a:solidFill>
              <a:srgbClr val="2E8B6A"/>
            </a:solidFill>
            <a:prstDash val="solid"/>
          </a:ln>
        </p:spPr>
      </p:sp>
      <p:sp>
        <p:nvSpPr>
          <p:cNvPr id="6" name="Text 4"/>
          <p:cNvSpPr/>
          <p:nvPr/>
        </p:nvSpPr>
        <p:spPr>
          <a:xfrm>
            <a:off x="804672" y="1842516"/>
            <a:ext cx="502920" cy="320040"/>
          </a:xfrm>
          <a:prstGeom prst="rect">
            <a:avLst/>
          </a:prstGeom>
          <a:noFill/>
          <a:ln/>
        </p:spPr>
        <p:txBody>
          <a:bodyPr wrap="square" lIns="0" tIns="0" rIns="0" bIns="0" rtlCol="0" anchor="ctr"/>
          <a:lstStyle/>
          <a:p>
            <a:pPr algn="ctr" indent="0" marL="0">
              <a:buNone/>
            </a:pPr>
            <a:r>
              <a:rPr lang="en-US" sz="1200" b="1" dirty="0">
                <a:solidFill>
                  <a:srgbClr val="2E8B6A"/>
                </a:solidFill>
                <a:latin typeface="Courier New" pitchFamily="34" charset="0"/>
                <a:ea typeface="Courier New" pitchFamily="34" charset="-122"/>
                <a:cs typeface="Courier New" pitchFamily="34" charset="-120"/>
              </a:rPr>
              <a:t>C1</a:t>
            </a:r>
            <a:endParaRPr lang="en-US" sz="1200" dirty="0"/>
          </a:p>
        </p:txBody>
      </p:sp>
      <p:sp>
        <p:nvSpPr>
          <p:cNvPr id="7" name="Text 5"/>
          <p:cNvSpPr/>
          <p:nvPr/>
        </p:nvSpPr>
        <p:spPr>
          <a:xfrm>
            <a:off x="1508760" y="1764792"/>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Merge = retrain  (keystone)</a:t>
            </a:r>
            <a:endParaRPr lang="en-US" sz="1500" dirty="0"/>
          </a:p>
        </p:txBody>
      </p:sp>
      <p:sp>
        <p:nvSpPr>
          <p:cNvPr id="8" name="Text 6"/>
          <p:cNvSpPr/>
          <p:nvPr/>
        </p:nvSpPr>
        <p:spPr>
          <a:xfrm>
            <a:off x="1508760" y="2103120"/>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One CI job pushes changed Markdown to the right agent's vector store, routed by audience — architecture docs to Codebase, specs to Product, user docs to Support. Delete-and-replace, so retrieval never surfaces stale versions.</a:t>
            </a:r>
            <a:endParaRPr lang="en-US" sz="1150" dirty="0"/>
          </a:p>
        </p:txBody>
      </p:sp>
      <p:sp>
        <p:nvSpPr>
          <p:cNvPr id="9" name="Text 7"/>
          <p:cNvSpPr/>
          <p:nvPr/>
        </p:nvSpPr>
        <p:spPr>
          <a:xfrm>
            <a:off x="8641080" y="1819656"/>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Agents answer about yesterday's merge, today.</a:t>
            </a:r>
            <a:endParaRPr lang="en-US" sz="850" dirty="0"/>
          </a:p>
        </p:txBody>
      </p:sp>
      <p:sp>
        <p:nvSpPr>
          <p:cNvPr id="10" name="Shape 8"/>
          <p:cNvSpPr/>
          <p:nvPr/>
        </p:nvSpPr>
        <p:spPr>
          <a:xfrm>
            <a:off x="548640" y="3218688"/>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1" name="Shape 9"/>
          <p:cNvSpPr/>
          <p:nvPr/>
        </p:nvSpPr>
        <p:spPr>
          <a:xfrm>
            <a:off x="804672" y="3474720"/>
            <a:ext cx="502920" cy="292608"/>
          </a:xfrm>
          <a:prstGeom prst="roundRect">
            <a:avLst>
              <a:gd name="adj" fmla="val 28125"/>
            </a:avLst>
          </a:prstGeom>
          <a:solidFill>
            <a:srgbClr val="E8F4EE"/>
          </a:solidFill>
          <a:ln w="9525">
            <a:solidFill>
              <a:srgbClr val="2E8B6A"/>
            </a:solidFill>
            <a:prstDash val="solid"/>
          </a:ln>
        </p:spPr>
      </p:sp>
      <p:sp>
        <p:nvSpPr>
          <p:cNvPr id="12" name="Text 10"/>
          <p:cNvSpPr/>
          <p:nvPr/>
        </p:nvSpPr>
        <p:spPr>
          <a:xfrm>
            <a:off x="804672" y="3461004"/>
            <a:ext cx="502920" cy="320040"/>
          </a:xfrm>
          <a:prstGeom prst="rect">
            <a:avLst/>
          </a:prstGeom>
          <a:noFill/>
          <a:ln/>
        </p:spPr>
        <p:txBody>
          <a:bodyPr wrap="square" lIns="0" tIns="0" rIns="0" bIns="0" rtlCol="0" anchor="ctr"/>
          <a:lstStyle/>
          <a:p>
            <a:pPr algn="ctr" indent="0" marL="0">
              <a:buNone/>
            </a:pPr>
            <a:r>
              <a:rPr lang="en-US" sz="1200" b="1" dirty="0">
                <a:solidFill>
                  <a:srgbClr val="2E8B6A"/>
                </a:solidFill>
                <a:latin typeface="Courier New" pitchFamily="34" charset="0"/>
                <a:ea typeface="Courier New" pitchFamily="34" charset="-122"/>
                <a:cs typeface="Courier New" pitchFamily="34" charset="-120"/>
              </a:rPr>
              <a:t>C2</a:t>
            </a:r>
            <a:endParaRPr lang="en-US" sz="1200" dirty="0"/>
          </a:p>
        </p:txBody>
      </p:sp>
      <p:sp>
        <p:nvSpPr>
          <p:cNvPr id="13" name="Text 11"/>
          <p:cNvSpPr/>
          <p:nvPr/>
        </p:nvSpPr>
        <p:spPr>
          <a:xfrm>
            <a:off x="1508760" y="3383280"/>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Docs written by the diff</a:t>
            </a:r>
            <a:endParaRPr lang="en-US" sz="1500" dirty="0"/>
          </a:p>
        </p:txBody>
      </p:sp>
      <p:sp>
        <p:nvSpPr>
          <p:cNvPr id="14" name="Text 12"/>
          <p:cNvSpPr/>
          <p:nvPr/>
        </p:nvSpPr>
        <p:spPr>
          <a:xfrm>
            <a:off x="1508760" y="3721608"/>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The coding agent drafts docs and the changelog entry from the diff, in the same PR — it already knows what changed and why. Reviewed as one unit with the code.</a:t>
            </a:r>
            <a:endParaRPr lang="en-US" sz="1150" dirty="0"/>
          </a:p>
        </p:txBody>
      </p:sp>
      <p:sp>
        <p:nvSpPr>
          <p:cNvPr id="15" name="Text 13"/>
          <p:cNvSpPr/>
          <p:nvPr/>
        </p:nvSpPr>
        <p:spPr>
          <a:xfrm>
            <a:off x="8641080" y="3438144"/>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Docs stop being a separate, late category.</a:t>
            </a:r>
            <a:endParaRPr lang="en-US" sz="850" dirty="0"/>
          </a:p>
        </p:txBody>
      </p:sp>
      <p:sp>
        <p:nvSpPr>
          <p:cNvPr id="16" name="Shape 14"/>
          <p:cNvSpPr/>
          <p:nvPr/>
        </p:nvSpPr>
        <p:spPr>
          <a:xfrm>
            <a:off x="548640" y="4837176"/>
            <a:ext cx="11091672" cy="1417320"/>
          </a:xfrm>
          <a:prstGeom prst="roundRect">
            <a:avLst>
              <a:gd name="adj" fmla="val 516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7" name="Shape 15"/>
          <p:cNvSpPr/>
          <p:nvPr/>
        </p:nvSpPr>
        <p:spPr>
          <a:xfrm>
            <a:off x="804672" y="5093208"/>
            <a:ext cx="502920" cy="292608"/>
          </a:xfrm>
          <a:prstGeom prst="roundRect">
            <a:avLst>
              <a:gd name="adj" fmla="val 28125"/>
            </a:avLst>
          </a:prstGeom>
          <a:solidFill>
            <a:srgbClr val="E8F4EE"/>
          </a:solidFill>
          <a:ln w="9525">
            <a:solidFill>
              <a:srgbClr val="2E8B6A"/>
            </a:solidFill>
            <a:prstDash val="solid"/>
          </a:ln>
        </p:spPr>
      </p:sp>
      <p:sp>
        <p:nvSpPr>
          <p:cNvPr id="18" name="Text 16"/>
          <p:cNvSpPr/>
          <p:nvPr/>
        </p:nvSpPr>
        <p:spPr>
          <a:xfrm>
            <a:off x="804672" y="5079492"/>
            <a:ext cx="502920" cy="320040"/>
          </a:xfrm>
          <a:prstGeom prst="rect">
            <a:avLst/>
          </a:prstGeom>
          <a:noFill/>
          <a:ln/>
        </p:spPr>
        <p:txBody>
          <a:bodyPr wrap="square" lIns="0" tIns="0" rIns="0" bIns="0" rtlCol="0" anchor="ctr"/>
          <a:lstStyle/>
          <a:p>
            <a:pPr algn="ctr" indent="0" marL="0">
              <a:buNone/>
            </a:pPr>
            <a:r>
              <a:rPr lang="en-US" sz="1200" b="1" dirty="0">
                <a:solidFill>
                  <a:srgbClr val="2E8B6A"/>
                </a:solidFill>
                <a:latin typeface="Courier New" pitchFamily="34" charset="0"/>
                <a:ea typeface="Courier New" pitchFamily="34" charset="-122"/>
                <a:cs typeface="Courier New" pitchFamily="34" charset="-120"/>
              </a:rPr>
              <a:t>C3</a:t>
            </a:r>
            <a:endParaRPr lang="en-US" sz="1200" dirty="0"/>
          </a:p>
        </p:txBody>
      </p:sp>
      <p:sp>
        <p:nvSpPr>
          <p:cNvPr id="19" name="Text 17"/>
          <p:cNvSpPr/>
          <p:nvPr/>
        </p:nvSpPr>
        <p:spPr>
          <a:xfrm>
            <a:off x="1508760" y="5001768"/>
            <a:ext cx="6583680" cy="310896"/>
          </a:xfrm>
          <a:prstGeom prst="rect">
            <a:avLst/>
          </a:prstGeom>
          <a:noFill/>
          <a:ln/>
        </p:spPr>
        <p:txBody>
          <a:bodyPr wrap="square" lIns="0" tIns="0" rIns="0" bIns="0" rtlCol="0" anchor="ctr"/>
          <a:lstStyle/>
          <a:p>
            <a:pPr indent="0" marL="0">
              <a:buNone/>
            </a:pPr>
            <a:r>
              <a:rPr lang="en-US" sz="1500" b="1" dirty="0">
                <a:solidFill>
                  <a:srgbClr val="201A2E"/>
                </a:solidFill>
                <a:latin typeface="Arial" pitchFamily="34" charset="0"/>
                <a:ea typeface="Arial" pitchFamily="34" charset="-122"/>
                <a:cs typeface="Arial" pitchFamily="34" charset="-120"/>
              </a:rPr>
              <a:t>Gap-driven backlog</a:t>
            </a:r>
            <a:endParaRPr lang="en-US" sz="1500" dirty="0"/>
          </a:p>
        </p:txBody>
      </p:sp>
      <p:sp>
        <p:nvSpPr>
          <p:cNvPr id="20" name="Text 18"/>
          <p:cNvSpPr/>
          <p:nvPr/>
        </p:nvSpPr>
        <p:spPr>
          <a:xfrm>
            <a:off x="1508760" y="5340096"/>
            <a:ext cx="6858000" cy="868680"/>
          </a:xfrm>
          <a:prstGeom prst="rect">
            <a:avLst/>
          </a:prstGeom>
          <a:noFill/>
          <a:ln/>
        </p:spPr>
        <p:txBody>
          <a:bodyPr wrap="square" lIns="0" tIns="0" rIns="0" bIns="0" rtlCol="0" anchor="ctr"/>
          <a:lstStyle/>
          <a:p>
            <a:pPr indent="0" marL="0">
              <a:lnSpc>
                <a:spcPts val="1500"/>
              </a:lnSpc>
              <a:buNone/>
            </a:pPr>
            <a:r>
              <a:rPr lang="en-US" sz="1150" dirty="0">
                <a:solidFill>
                  <a:srgbClr val="5A5170"/>
                </a:solidFill>
                <a:latin typeface="Arial" pitchFamily="34" charset="0"/>
                <a:ea typeface="Arial" pitchFamily="34" charset="-122"/>
                <a:cs typeface="Arial" pitchFamily="34" charset="-120"/>
              </a:rPr>
              <a:t>Weekly: pull the questions the agent failed to answer (Admin Mode shows retrievals), have the coding agent draft the missing pages from the codebase, merge — C1 closes the exact gap a customer hit.</a:t>
            </a:r>
            <a:endParaRPr lang="en-US" sz="1150" dirty="0"/>
          </a:p>
        </p:txBody>
      </p:sp>
      <p:sp>
        <p:nvSpPr>
          <p:cNvPr id="21" name="Text 19"/>
          <p:cNvSpPr/>
          <p:nvPr/>
        </p:nvSpPr>
        <p:spPr>
          <a:xfrm>
            <a:off x="8641080" y="5056632"/>
            <a:ext cx="2834640" cy="1051560"/>
          </a:xfrm>
          <a:prstGeom prst="rect">
            <a:avLst/>
          </a:prstGeom>
          <a:noFill/>
          <a:ln/>
        </p:spPr>
        <p:txBody>
          <a:bodyPr wrap="square" lIns="0" tIns="0" rIns="0" bIns="0" rtlCol="0" anchor="ctr"/>
          <a:lstStyle/>
          <a:p>
            <a:pPr indent="0" marL="0">
              <a:lnSpc>
                <a:spcPts val="1450"/>
              </a:lnSpc>
              <a:buNone/>
            </a:pPr>
            <a:r>
              <a:rPr lang="en-US" sz="850" spc="150" kern="0" dirty="0">
                <a:solidFill>
                  <a:srgbClr val="2E8B6A"/>
                </a:solidFill>
                <a:latin typeface="Courier New" pitchFamily="34" charset="0"/>
                <a:ea typeface="Courier New" pitchFamily="34" charset="-122"/>
                <a:cs typeface="Courier New" pitchFamily="34" charset="-120"/>
              </a:rPr>
              <a:t>SIGNAL</a:t>
            </a:r>
            <a:endParaRPr lang="en-US" sz="850" dirty="0"/>
          </a:p>
          <a:p>
            <a:pPr indent="0" marL="0">
              <a:lnSpc>
                <a:spcPts val="1450"/>
              </a:lnSpc>
              <a:buNone/>
            </a:pPr>
            <a:r>
              <a:rPr lang="en-US" sz="1100" i="1" dirty="0">
                <a:solidFill>
                  <a:srgbClr val="201A2E"/>
                </a:solidFill>
                <a:latin typeface="Arial" pitchFamily="34" charset="0"/>
                <a:ea typeface="Arial" pitchFamily="34" charset="-122"/>
                <a:cs typeface="Arial" pitchFamily="34" charset="-120"/>
              </a:rPr>
              <a:t>The same question never fails twice.</a:t>
            </a:r>
            <a:endParaRPr lang="en-US" sz="850" dirty="0"/>
          </a:p>
        </p:txBody>
      </p:sp>
      <p:sp>
        <p:nvSpPr>
          <p:cNvPr id="22" name="Text 20"/>
          <p:cNvSpPr/>
          <p:nvPr/>
        </p:nvSpPr>
        <p:spPr>
          <a:xfrm>
            <a:off x="548640" y="6355080"/>
            <a:ext cx="11091672" cy="320040"/>
          </a:xfrm>
          <a:prstGeom prst="rect">
            <a:avLst/>
          </a:prstGeom>
          <a:noFill/>
          <a:ln/>
        </p:spPr>
        <p:txBody>
          <a:bodyPr wrap="square" lIns="0" tIns="0" rIns="0" bIns="0" rtlCol="0" anchor="ctr"/>
          <a:lstStyle/>
          <a:p>
            <a:pPr indent="0" marL="0">
              <a:buNone/>
            </a:pPr>
            <a:r>
              <a:rPr lang="en-US" sz="1200" i="1" dirty="0">
                <a:solidFill>
                  <a:srgbClr val="2E8B6A"/>
                </a:solidFill>
                <a:latin typeface="Arial" pitchFamily="34" charset="0"/>
                <a:ea typeface="Arial" pitchFamily="34" charset="-122"/>
                <a:cs typeface="Arial" pitchFamily="34" charset="-120"/>
              </a:rPr>
              <a:t>Documentation becomes a byproduct of shipping, not a chore after it — and every doc also makes every agent smarter.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05 · GOVERNANCE</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The slide that answers the security question</a:t>
            </a:r>
            <a:endParaRPr lang="en-US" sz="3000" dirty="0"/>
          </a:p>
        </p:txBody>
      </p:sp>
      <p:sp>
        <p:nvSpPr>
          <p:cNvPr id="4" name="Shape 2"/>
          <p:cNvSpPr/>
          <p:nvPr/>
        </p:nvSpPr>
        <p:spPr>
          <a:xfrm>
            <a:off x="548640" y="164592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41248" y="1938528"/>
            <a:ext cx="512064" cy="512064"/>
          </a:xfrm>
          <a:prstGeom prst="ellipse">
            <a:avLst/>
          </a:prstGeom>
          <a:solidFill>
            <a:srgbClr val="F7F5FB"/>
          </a:solidFill>
          <a:ln/>
        </p:spPr>
      </p:sp>
      <p:pic>
        <p:nvPicPr>
          <p:cNvPr id="6" name="Image 0" descr="preencoded.png">    </p:cNvPr>
          <p:cNvPicPr>
            <a:picLocks noChangeAspect="1"/>
          </p:cNvPicPr>
          <p:nvPr/>
        </p:nvPicPr>
        <p:blipFill>
          <a:blip r:embed="rId1"/>
          <a:stretch>
            <a:fillRect/>
          </a:stretch>
        </p:blipFill>
        <p:spPr>
          <a:xfrm>
            <a:off x="974385" y="2071665"/>
            <a:ext cx="245791" cy="245791"/>
          </a:xfrm>
          <a:prstGeom prst="rect">
            <a:avLst/>
          </a:prstGeom>
        </p:spPr>
      </p:pic>
      <p:sp>
        <p:nvSpPr>
          <p:cNvPr id="7" name="Text 4"/>
          <p:cNvSpPr/>
          <p:nvPr/>
        </p:nvSpPr>
        <p:spPr>
          <a:xfrm>
            <a:off x="1508760" y="196596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Scoped keys, rotated</a:t>
            </a:r>
            <a:endParaRPr lang="en-US" sz="1600" dirty="0"/>
          </a:p>
        </p:txBody>
      </p:sp>
      <p:sp>
        <p:nvSpPr>
          <p:cNvPr id="8" name="Text 5"/>
          <p:cNvSpPr/>
          <p:nvPr/>
        </p:nvSpPr>
        <p:spPr>
          <a:xfrm>
            <a:off x="1508760" y="235915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Per-agent keys in env vars and CI secrets, never committed. A leak affects one agent; rotate from Launch Pad.</a:t>
            </a:r>
            <a:endParaRPr lang="en-US" sz="1200" dirty="0"/>
          </a:p>
        </p:txBody>
      </p:sp>
      <p:sp>
        <p:nvSpPr>
          <p:cNvPr id="9" name="Shape 6"/>
          <p:cNvSpPr/>
          <p:nvPr/>
        </p:nvSpPr>
        <p:spPr>
          <a:xfrm>
            <a:off x="6277356" y="164592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6569964" y="1938528"/>
            <a:ext cx="512064" cy="512064"/>
          </a:xfrm>
          <a:prstGeom prst="ellipse">
            <a:avLst/>
          </a:prstGeom>
          <a:solidFill>
            <a:srgbClr val="F7F5FB"/>
          </a:solidFill>
          <a:ln/>
        </p:spPr>
      </p:sp>
      <p:pic>
        <p:nvPicPr>
          <p:cNvPr id="11" name="Image 1" descr="preencoded.png">    </p:cNvPr>
          <p:cNvPicPr>
            <a:picLocks noChangeAspect="1"/>
          </p:cNvPicPr>
          <p:nvPr/>
        </p:nvPicPr>
        <p:blipFill>
          <a:blip r:embed="rId2"/>
          <a:stretch>
            <a:fillRect/>
          </a:stretch>
        </p:blipFill>
        <p:spPr>
          <a:xfrm>
            <a:off x="6703101" y="2071665"/>
            <a:ext cx="245791" cy="245791"/>
          </a:xfrm>
          <a:prstGeom prst="rect">
            <a:avLst/>
          </a:prstGeom>
        </p:spPr>
      </p:pic>
      <p:sp>
        <p:nvSpPr>
          <p:cNvPr id="12" name="Text 8"/>
          <p:cNvSpPr/>
          <p:nvPr/>
        </p:nvSpPr>
        <p:spPr>
          <a:xfrm>
            <a:off x="7237476" y="196596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Read-only by default</a:t>
            </a:r>
            <a:endParaRPr lang="en-US" sz="1600" dirty="0"/>
          </a:p>
        </p:txBody>
      </p:sp>
      <p:sp>
        <p:nvSpPr>
          <p:cNvPr id="13" name="Text 9"/>
          <p:cNvSpPr/>
          <p:nvPr/>
        </p:nvSpPr>
        <p:spPr>
          <a:xfrm>
            <a:off x="7237476" y="235915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Conversational agents get read tools only. Write access lives in audited automations — n8n flows and headless CI sessions.</a:t>
            </a:r>
            <a:endParaRPr lang="en-US" sz="1200" dirty="0"/>
          </a:p>
        </p:txBody>
      </p:sp>
      <p:sp>
        <p:nvSpPr>
          <p:cNvPr id="14" name="Shape 10"/>
          <p:cNvSpPr/>
          <p:nvPr/>
        </p:nvSpPr>
        <p:spPr>
          <a:xfrm>
            <a:off x="548640" y="406908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Shape 11"/>
          <p:cNvSpPr/>
          <p:nvPr/>
        </p:nvSpPr>
        <p:spPr>
          <a:xfrm>
            <a:off x="841248" y="4361688"/>
            <a:ext cx="512064" cy="512064"/>
          </a:xfrm>
          <a:prstGeom prst="ellipse">
            <a:avLst/>
          </a:prstGeom>
          <a:solidFill>
            <a:srgbClr val="F7F5FB"/>
          </a:solidFill>
          <a:ln/>
        </p:spPr>
      </p:sp>
      <p:pic>
        <p:nvPicPr>
          <p:cNvPr id="16" name="Image 2" descr="preencoded.png">    </p:cNvPr>
          <p:cNvPicPr>
            <a:picLocks noChangeAspect="1"/>
          </p:cNvPicPr>
          <p:nvPr/>
        </p:nvPicPr>
        <p:blipFill>
          <a:blip r:embed="rId3"/>
          <a:stretch>
            <a:fillRect/>
          </a:stretch>
        </p:blipFill>
        <p:spPr>
          <a:xfrm>
            <a:off x="974385" y="4494825"/>
            <a:ext cx="245791" cy="245791"/>
          </a:xfrm>
          <a:prstGeom prst="rect">
            <a:avLst/>
          </a:prstGeom>
        </p:spPr>
      </p:pic>
      <p:sp>
        <p:nvSpPr>
          <p:cNvPr id="17" name="Text 12"/>
          <p:cNvSpPr/>
          <p:nvPr/>
        </p:nvSpPr>
        <p:spPr>
          <a:xfrm>
            <a:off x="1508760" y="438912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PII stays governed</a:t>
            </a:r>
            <a:endParaRPr lang="en-US" sz="1600" dirty="0"/>
          </a:p>
        </p:txBody>
      </p:sp>
      <p:sp>
        <p:nvSpPr>
          <p:cNvPr id="18" name="Text 13"/>
          <p:cNvSpPr/>
          <p:nvPr/>
        </p:nvSpPr>
        <p:spPr>
          <a:xfrm>
            <a:off x="1508760" y="478231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Customer data remains in raia's stores — Auditor Skill, retention controls, immutable logs. Coding sessions get synthesized answers, never transcripts.</a:t>
            </a:r>
            <a:endParaRPr lang="en-US" sz="1200" dirty="0"/>
          </a:p>
        </p:txBody>
      </p:sp>
      <p:sp>
        <p:nvSpPr>
          <p:cNvPr id="19" name="Shape 14"/>
          <p:cNvSpPr/>
          <p:nvPr/>
        </p:nvSpPr>
        <p:spPr>
          <a:xfrm>
            <a:off x="6277356" y="406908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0" name="Shape 15"/>
          <p:cNvSpPr/>
          <p:nvPr/>
        </p:nvSpPr>
        <p:spPr>
          <a:xfrm>
            <a:off x="6569964" y="4361688"/>
            <a:ext cx="512064" cy="512064"/>
          </a:xfrm>
          <a:prstGeom prst="ellipse">
            <a:avLst/>
          </a:prstGeom>
          <a:solidFill>
            <a:srgbClr val="F7F5FB"/>
          </a:solidFill>
          <a:ln/>
        </p:spPr>
      </p:sp>
      <p:pic>
        <p:nvPicPr>
          <p:cNvPr id="21" name="Image 3" descr="preencoded.png">    </p:cNvPr>
          <p:cNvPicPr>
            <a:picLocks noChangeAspect="1"/>
          </p:cNvPicPr>
          <p:nvPr/>
        </p:nvPicPr>
        <p:blipFill>
          <a:blip r:embed="rId4"/>
          <a:stretch>
            <a:fillRect/>
          </a:stretch>
        </p:blipFill>
        <p:spPr>
          <a:xfrm>
            <a:off x="6703101" y="4494825"/>
            <a:ext cx="245791" cy="245791"/>
          </a:xfrm>
          <a:prstGeom prst="rect">
            <a:avLst/>
          </a:prstGeom>
        </p:spPr>
      </p:pic>
      <p:sp>
        <p:nvSpPr>
          <p:cNvPr id="22" name="Text 16"/>
          <p:cNvSpPr/>
          <p:nvPr/>
        </p:nvSpPr>
        <p:spPr>
          <a:xfrm>
            <a:off x="7237476" y="438912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Humans gate every merge</a:t>
            </a:r>
            <a:endParaRPr lang="en-US" sz="1600" dirty="0"/>
          </a:p>
        </p:txBody>
      </p:sp>
      <p:sp>
        <p:nvSpPr>
          <p:cNvPr id="23" name="Text 17"/>
          <p:cNvSpPr/>
          <p:nvPr/>
        </p:nvSpPr>
        <p:spPr>
          <a:xfrm>
            <a:off x="7237476" y="478231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Automation drafts PRs; it never merges them. The allowlisted class grows only with demonstrated merge rate.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06 · PROOF</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How we'll know it's working</a:t>
            </a:r>
            <a:endParaRPr lang="en-US" sz="3000" dirty="0"/>
          </a:p>
        </p:txBody>
      </p:sp>
      <p:sp>
        <p:nvSpPr>
          <p:cNvPr id="4" name="Shape 2"/>
          <p:cNvSpPr/>
          <p:nvPr/>
        </p:nvSpPr>
        <p:spPr>
          <a:xfrm>
            <a:off x="548640"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Text 3"/>
          <p:cNvSpPr/>
          <p:nvPr/>
        </p:nvSpPr>
        <p:spPr>
          <a:xfrm>
            <a:off x="804672" y="1847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Time-to-context</a:t>
            </a:r>
            <a:endParaRPr lang="en-US" sz="1450" dirty="0"/>
          </a:p>
        </p:txBody>
      </p:sp>
      <p:sp>
        <p:nvSpPr>
          <p:cNvPr id="6" name="Text 4"/>
          <p:cNvSpPr/>
          <p:nvPr/>
        </p:nvSpPr>
        <p:spPr>
          <a:xfrm>
            <a:off x="804672" y="2176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minutes from “assigned” to credible plan</a:t>
            </a:r>
            <a:endParaRPr lang="en-US" sz="1050" dirty="0"/>
          </a:p>
        </p:txBody>
      </p:sp>
      <p:sp>
        <p:nvSpPr>
          <p:cNvPr id="7" name="Text 5"/>
          <p:cNvSpPr/>
          <p:nvPr/>
        </p:nvSpPr>
        <p:spPr>
          <a:xfrm>
            <a:off x="804672" y="2816352"/>
            <a:ext cx="3002280" cy="411480"/>
          </a:xfrm>
          <a:prstGeom prst="rect">
            <a:avLst/>
          </a:prstGeom>
          <a:noFill/>
          <a:ln/>
        </p:spPr>
        <p:txBody>
          <a:bodyPr wrap="square" lIns="0" tIns="0" rIns="0" bIns="0" rtlCol="0" anchor="ctr"/>
          <a:lstStyle/>
          <a:p>
            <a:pPr indent="0" marL="0">
              <a:buNone/>
            </a:pPr>
            <a:r>
              <a:rPr lang="en-US" sz="1700" b="1" dirty="0">
                <a:solidFill>
                  <a:srgbClr val="C96442"/>
                </a:solidFill>
                <a:latin typeface="Arial" pitchFamily="34" charset="0"/>
                <a:ea typeface="Arial" pitchFamily="34" charset="-122"/>
                <a:cs typeface="Arial" pitchFamily="34" charset="-120"/>
              </a:rPr>
              <a:t>falls sharply</a:t>
            </a:r>
            <a:endParaRPr lang="en-US" sz="1700" dirty="0"/>
          </a:p>
        </p:txBody>
      </p:sp>
      <p:sp>
        <p:nvSpPr>
          <p:cNvPr id="8" name="Text 6"/>
          <p:cNvSpPr/>
          <p:nvPr/>
        </p:nvSpPr>
        <p:spPr>
          <a:xfrm>
            <a:off x="804672" y="3255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A2 A3</a:t>
            </a:r>
            <a:endParaRPr lang="en-US" sz="950" dirty="0"/>
          </a:p>
        </p:txBody>
      </p:sp>
      <p:sp>
        <p:nvSpPr>
          <p:cNvPr id="9" name="Shape 7"/>
          <p:cNvSpPr/>
          <p:nvPr/>
        </p:nvSpPr>
        <p:spPr>
          <a:xfrm>
            <a:off x="4337304"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Text 8"/>
          <p:cNvSpPr/>
          <p:nvPr/>
        </p:nvSpPr>
        <p:spPr>
          <a:xfrm>
            <a:off x="4593336" y="1847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Knowledge lag</a:t>
            </a:r>
            <a:endParaRPr lang="en-US" sz="1450" dirty="0"/>
          </a:p>
        </p:txBody>
      </p:sp>
      <p:sp>
        <p:nvSpPr>
          <p:cNvPr id="11" name="Text 9"/>
          <p:cNvSpPr/>
          <p:nvPr/>
        </p:nvSpPr>
        <p:spPr>
          <a:xfrm>
            <a:off x="4593336" y="2176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merge → agents answer correctly about it</a:t>
            </a:r>
            <a:endParaRPr lang="en-US" sz="1050" dirty="0"/>
          </a:p>
        </p:txBody>
      </p:sp>
      <p:sp>
        <p:nvSpPr>
          <p:cNvPr id="12" name="Text 10"/>
          <p:cNvSpPr/>
          <p:nvPr/>
        </p:nvSpPr>
        <p:spPr>
          <a:xfrm>
            <a:off x="4593336" y="2816352"/>
            <a:ext cx="3002280" cy="411480"/>
          </a:xfrm>
          <a:prstGeom prst="rect">
            <a:avLst/>
          </a:prstGeom>
          <a:noFill/>
          <a:ln/>
        </p:spPr>
        <p:txBody>
          <a:bodyPr wrap="square" lIns="0" tIns="0" rIns="0" bIns="0" rtlCol="0" anchor="ctr"/>
          <a:lstStyle/>
          <a:p>
            <a:pPr indent="0" marL="0">
              <a:buNone/>
            </a:pPr>
            <a:r>
              <a:rPr lang="en-US" sz="1700" b="1" dirty="0">
                <a:solidFill>
                  <a:srgbClr val="2E8B6A"/>
                </a:solidFill>
                <a:latin typeface="Arial" pitchFamily="34" charset="0"/>
                <a:ea typeface="Arial" pitchFamily="34" charset="-122"/>
                <a:cs typeface="Arial" pitchFamily="34" charset="-120"/>
              </a:rPr>
              <a:t>same day</a:t>
            </a:r>
            <a:endParaRPr lang="en-US" sz="1700" dirty="0"/>
          </a:p>
        </p:txBody>
      </p:sp>
      <p:sp>
        <p:nvSpPr>
          <p:cNvPr id="13" name="Text 11"/>
          <p:cNvSpPr/>
          <p:nvPr/>
        </p:nvSpPr>
        <p:spPr>
          <a:xfrm>
            <a:off x="4593336" y="3255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C1</a:t>
            </a:r>
            <a:endParaRPr lang="en-US" sz="950" dirty="0"/>
          </a:p>
        </p:txBody>
      </p:sp>
      <p:sp>
        <p:nvSpPr>
          <p:cNvPr id="14" name="Shape 12"/>
          <p:cNvSpPr/>
          <p:nvPr/>
        </p:nvSpPr>
        <p:spPr>
          <a:xfrm>
            <a:off x="8125968" y="1645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Text 13"/>
          <p:cNvSpPr/>
          <p:nvPr/>
        </p:nvSpPr>
        <p:spPr>
          <a:xfrm>
            <a:off x="8382000" y="1847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Escalation quality</a:t>
            </a:r>
            <a:endParaRPr lang="en-US" sz="1450" dirty="0"/>
          </a:p>
        </p:txBody>
      </p:sp>
      <p:sp>
        <p:nvSpPr>
          <p:cNvPr id="16" name="Text 14"/>
          <p:cNvSpPr/>
          <p:nvPr/>
        </p:nvSpPr>
        <p:spPr>
          <a:xfrm>
            <a:off x="8382000" y="2176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support bugs with usable repro steps</a:t>
            </a:r>
            <a:endParaRPr lang="en-US" sz="1050" dirty="0"/>
          </a:p>
        </p:txBody>
      </p:sp>
      <p:sp>
        <p:nvSpPr>
          <p:cNvPr id="17" name="Text 15"/>
          <p:cNvSpPr/>
          <p:nvPr/>
        </p:nvSpPr>
        <p:spPr>
          <a:xfrm>
            <a:off x="8382000" y="2816352"/>
            <a:ext cx="3002280" cy="411480"/>
          </a:xfrm>
          <a:prstGeom prst="rect">
            <a:avLst/>
          </a:prstGeom>
          <a:noFill/>
          <a:ln/>
        </p:spPr>
        <p:txBody>
          <a:bodyPr wrap="square" lIns="0" tIns="0" rIns="0" bIns="0" rtlCol="0" anchor="ctr"/>
          <a:lstStyle/>
          <a:p>
            <a:pPr indent="0" marL="0">
              <a:buNone/>
            </a:pPr>
            <a:r>
              <a:rPr lang="en-US" sz="1700" b="1" dirty="0">
                <a:solidFill>
                  <a:srgbClr val="6D4AEF"/>
                </a:solidFill>
                <a:latin typeface="Arial" pitchFamily="34" charset="0"/>
                <a:ea typeface="Arial" pitchFamily="34" charset="-122"/>
                <a:cs typeface="Arial" pitchFamily="34" charset="-120"/>
              </a:rPr>
              <a:t>≥ 80%</a:t>
            </a:r>
            <a:endParaRPr lang="en-US" sz="1700" dirty="0"/>
          </a:p>
        </p:txBody>
      </p:sp>
      <p:sp>
        <p:nvSpPr>
          <p:cNvPr id="18" name="Text 16"/>
          <p:cNvSpPr/>
          <p:nvPr/>
        </p:nvSpPr>
        <p:spPr>
          <a:xfrm>
            <a:off x="8382000" y="3255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B2</a:t>
            </a:r>
            <a:endParaRPr lang="en-US" sz="950" dirty="0"/>
          </a:p>
        </p:txBody>
      </p:sp>
      <p:sp>
        <p:nvSpPr>
          <p:cNvPr id="19" name="Shape 17"/>
          <p:cNvSpPr/>
          <p:nvPr/>
        </p:nvSpPr>
        <p:spPr>
          <a:xfrm>
            <a:off x="548640" y="3931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0" name="Text 18"/>
          <p:cNvSpPr/>
          <p:nvPr/>
        </p:nvSpPr>
        <p:spPr>
          <a:xfrm>
            <a:off x="804672" y="4133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Retrieval failures</a:t>
            </a:r>
            <a:endParaRPr lang="en-US" sz="1450" dirty="0"/>
          </a:p>
        </p:txBody>
      </p:sp>
      <p:sp>
        <p:nvSpPr>
          <p:cNvPr id="21" name="Text 19"/>
          <p:cNvSpPr/>
          <p:nvPr/>
        </p:nvSpPr>
        <p:spPr>
          <a:xfrm>
            <a:off x="804672" y="4462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agent queries with no relevant retrieval</a:t>
            </a:r>
            <a:endParaRPr lang="en-US" sz="1050" dirty="0"/>
          </a:p>
        </p:txBody>
      </p:sp>
      <p:sp>
        <p:nvSpPr>
          <p:cNvPr id="22" name="Text 20"/>
          <p:cNvSpPr/>
          <p:nvPr/>
        </p:nvSpPr>
        <p:spPr>
          <a:xfrm>
            <a:off x="804672" y="5102352"/>
            <a:ext cx="3002280" cy="411480"/>
          </a:xfrm>
          <a:prstGeom prst="rect">
            <a:avLst/>
          </a:prstGeom>
          <a:noFill/>
          <a:ln/>
        </p:spPr>
        <p:txBody>
          <a:bodyPr wrap="square" lIns="0" tIns="0" rIns="0" bIns="0" rtlCol="0" anchor="ctr"/>
          <a:lstStyle/>
          <a:p>
            <a:pPr indent="0" marL="0">
              <a:buNone/>
            </a:pPr>
            <a:r>
              <a:rPr lang="en-US" sz="1700" b="1" dirty="0">
                <a:solidFill>
                  <a:srgbClr val="2E8B6A"/>
                </a:solidFill>
                <a:latin typeface="Arial" pitchFamily="34" charset="0"/>
                <a:ea typeface="Arial" pitchFamily="34" charset="-122"/>
                <a:cs typeface="Arial" pitchFamily="34" charset="-120"/>
              </a:rPr>
              <a:t>declines monthly</a:t>
            </a:r>
            <a:endParaRPr lang="en-US" sz="1700" dirty="0"/>
          </a:p>
        </p:txBody>
      </p:sp>
      <p:sp>
        <p:nvSpPr>
          <p:cNvPr id="23" name="Text 21"/>
          <p:cNvSpPr/>
          <p:nvPr/>
        </p:nvSpPr>
        <p:spPr>
          <a:xfrm>
            <a:off x="804672" y="5541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C3</a:t>
            </a:r>
            <a:endParaRPr lang="en-US" sz="950" dirty="0"/>
          </a:p>
        </p:txBody>
      </p:sp>
      <p:sp>
        <p:nvSpPr>
          <p:cNvPr id="24" name="Shape 22"/>
          <p:cNvSpPr/>
          <p:nvPr/>
        </p:nvSpPr>
        <p:spPr>
          <a:xfrm>
            <a:off x="4337304" y="3931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5" name="Text 23"/>
          <p:cNvSpPr/>
          <p:nvPr/>
        </p:nvSpPr>
        <p:spPr>
          <a:xfrm>
            <a:off x="4593336" y="4133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Interrupt load</a:t>
            </a:r>
            <a:endParaRPr lang="en-US" sz="1450" dirty="0"/>
          </a:p>
        </p:txBody>
      </p:sp>
      <p:sp>
        <p:nvSpPr>
          <p:cNvPr id="26" name="Text 24"/>
          <p:cNvSpPr/>
          <p:nvPr/>
        </p:nvSpPr>
        <p:spPr>
          <a:xfrm>
            <a:off x="4593336" y="4462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ad-hoc pings landing on engineers</a:t>
            </a:r>
            <a:endParaRPr lang="en-US" sz="1050" dirty="0"/>
          </a:p>
        </p:txBody>
      </p:sp>
      <p:sp>
        <p:nvSpPr>
          <p:cNvPr id="27" name="Text 25"/>
          <p:cNvSpPr/>
          <p:nvPr/>
        </p:nvSpPr>
        <p:spPr>
          <a:xfrm>
            <a:off x="4593336" y="5102352"/>
            <a:ext cx="3002280" cy="411480"/>
          </a:xfrm>
          <a:prstGeom prst="rect">
            <a:avLst/>
          </a:prstGeom>
          <a:noFill/>
          <a:ln/>
        </p:spPr>
        <p:txBody>
          <a:bodyPr wrap="square" lIns="0" tIns="0" rIns="0" bIns="0" rtlCol="0" anchor="ctr"/>
          <a:lstStyle/>
          <a:p>
            <a:pPr indent="0" marL="0">
              <a:buNone/>
            </a:pPr>
            <a:r>
              <a:rPr lang="en-US" sz="1700" b="1" dirty="0">
                <a:solidFill>
                  <a:srgbClr val="6D4AEF"/>
                </a:solidFill>
                <a:latin typeface="Arial" pitchFamily="34" charset="0"/>
                <a:ea typeface="Arial" pitchFamily="34" charset="-122"/>
                <a:cs typeface="Arial" pitchFamily="34" charset="-120"/>
              </a:rPr>
              <a:t>migrates to agents</a:t>
            </a:r>
            <a:endParaRPr lang="en-US" sz="1700" dirty="0"/>
          </a:p>
        </p:txBody>
      </p:sp>
      <p:sp>
        <p:nvSpPr>
          <p:cNvPr id="28" name="Text 26"/>
          <p:cNvSpPr/>
          <p:nvPr/>
        </p:nvSpPr>
        <p:spPr>
          <a:xfrm>
            <a:off x="4593336" y="5541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B4</a:t>
            </a:r>
            <a:endParaRPr lang="en-US" sz="950" dirty="0"/>
          </a:p>
        </p:txBody>
      </p:sp>
      <p:sp>
        <p:nvSpPr>
          <p:cNvPr id="29" name="Shape 27"/>
          <p:cNvSpPr/>
          <p:nvPr/>
        </p:nvSpPr>
        <p:spPr>
          <a:xfrm>
            <a:off x="8125968" y="3931920"/>
            <a:ext cx="3514344" cy="1965960"/>
          </a:xfrm>
          <a:prstGeom prst="roundRect">
            <a:avLst>
              <a:gd name="adj" fmla="val 3721"/>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30" name="Text 28"/>
          <p:cNvSpPr/>
          <p:nvPr/>
        </p:nvSpPr>
        <p:spPr>
          <a:xfrm>
            <a:off x="8382000" y="4133088"/>
            <a:ext cx="3002280" cy="310896"/>
          </a:xfrm>
          <a:prstGeom prst="rect">
            <a:avLst/>
          </a:prstGeom>
          <a:noFill/>
          <a:ln/>
        </p:spPr>
        <p:txBody>
          <a:bodyPr wrap="square" lIns="0" tIns="0" rIns="0" bIns="0" rtlCol="0" anchor="ctr"/>
          <a:lstStyle/>
          <a:p>
            <a:pPr indent="0" marL="0">
              <a:buNone/>
            </a:pPr>
            <a:r>
              <a:rPr lang="en-US" sz="1450" b="1" dirty="0">
                <a:solidFill>
                  <a:srgbClr val="201A2E"/>
                </a:solidFill>
                <a:latin typeface="Arial" pitchFamily="34" charset="0"/>
                <a:ea typeface="Arial" pitchFamily="34" charset="-122"/>
                <a:cs typeface="Arial" pitchFamily="34" charset="-120"/>
              </a:rPr>
              <a:t>Mismatch catch point</a:t>
            </a:r>
            <a:endParaRPr lang="en-US" sz="1450" dirty="0"/>
          </a:p>
        </p:txBody>
      </p:sp>
      <p:sp>
        <p:nvSpPr>
          <p:cNvPr id="31" name="Text 29"/>
          <p:cNvSpPr/>
          <p:nvPr/>
        </p:nvSpPr>
        <p:spPr>
          <a:xfrm>
            <a:off x="8382000" y="4462272"/>
            <a:ext cx="3002280" cy="548640"/>
          </a:xfrm>
          <a:prstGeom prst="rect">
            <a:avLst/>
          </a:prstGeom>
          <a:noFill/>
          <a:ln/>
        </p:spPr>
        <p:txBody>
          <a:bodyPr wrap="square" lIns="0" tIns="0" rIns="0" bIns="0" rtlCol="0" anchor="ctr"/>
          <a:lstStyle/>
          <a:p>
            <a:pPr indent="0" marL="0">
              <a:lnSpc>
                <a:spcPts val="1350"/>
              </a:lnSpc>
              <a:buNone/>
            </a:pPr>
            <a:r>
              <a:rPr lang="en-US" sz="1050" dirty="0">
                <a:solidFill>
                  <a:srgbClr val="5A5170"/>
                </a:solidFill>
                <a:latin typeface="Arial" pitchFamily="34" charset="0"/>
                <a:ea typeface="Arial" pitchFamily="34" charset="-122"/>
                <a:cs typeface="Arial" pitchFamily="34" charset="-120"/>
              </a:rPr>
              <a:t>where spec deviations surface</a:t>
            </a:r>
            <a:endParaRPr lang="en-US" sz="1050" dirty="0"/>
          </a:p>
        </p:txBody>
      </p:sp>
      <p:sp>
        <p:nvSpPr>
          <p:cNvPr id="32" name="Text 30"/>
          <p:cNvSpPr/>
          <p:nvPr/>
        </p:nvSpPr>
        <p:spPr>
          <a:xfrm>
            <a:off x="8382000" y="5102352"/>
            <a:ext cx="3002280" cy="411480"/>
          </a:xfrm>
          <a:prstGeom prst="rect">
            <a:avLst/>
          </a:prstGeom>
          <a:noFill/>
          <a:ln/>
        </p:spPr>
        <p:txBody>
          <a:bodyPr wrap="square" lIns="0" tIns="0" rIns="0" bIns="0" rtlCol="0" anchor="ctr"/>
          <a:lstStyle/>
          <a:p>
            <a:pPr indent="0" marL="0">
              <a:buNone/>
            </a:pPr>
            <a:r>
              <a:rPr lang="en-US" sz="1700" b="1" dirty="0">
                <a:solidFill>
                  <a:srgbClr val="C96442"/>
                </a:solidFill>
                <a:latin typeface="Arial" pitchFamily="34" charset="0"/>
                <a:ea typeface="Arial" pitchFamily="34" charset="-122"/>
                <a:cs typeface="Arial" pitchFamily="34" charset="-120"/>
              </a:rPr>
              <a:t>PR, not UAT</a:t>
            </a:r>
            <a:endParaRPr lang="en-US" sz="1700" dirty="0"/>
          </a:p>
        </p:txBody>
      </p:sp>
      <p:sp>
        <p:nvSpPr>
          <p:cNvPr id="33" name="Text 31"/>
          <p:cNvSpPr/>
          <p:nvPr/>
        </p:nvSpPr>
        <p:spPr>
          <a:xfrm>
            <a:off x="8382000" y="5541264"/>
            <a:ext cx="3002280" cy="256032"/>
          </a:xfrm>
          <a:prstGeom prst="rect">
            <a:avLst/>
          </a:prstGeom>
          <a:noFill/>
          <a:ln/>
        </p:spPr>
        <p:txBody>
          <a:bodyPr wrap="square" lIns="0" tIns="0" rIns="0" bIns="0" rtlCol="0" anchor="ctr"/>
          <a:lstStyle/>
          <a:p>
            <a:pPr indent="0" marL="0">
              <a:buNone/>
            </a:pPr>
            <a:r>
              <a:rPr lang="en-US" sz="950" spc="100" kern="0" dirty="0">
                <a:solidFill>
                  <a:srgbClr val="5A5170"/>
                </a:solidFill>
                <a:latin typeface="Courier New" pitchFamily="34" charset="0"/>
                <a:ea typeface="Courier New" pitchFamily="34" charset="-122"/>
                <a:cs typeface="Courier New" pitchFamily="34" charset="-120"/>
              </a:rPr>
              <a:t>A4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07 · ROLLOUT</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30 / 60 / 90 — configuration before construction</a:t>
            </a:r>
            <a:endParaRPr lang="en-US" sz="3000" dirty="0"/>
          </a:p>
        </p:txBody>
      </p:sp>
      <p:sp>
        <p:nvSpPr>
          <p:cNvPr id="4" name="Shape 2"/>
          <p:cNvSpPr/>
          <p:nvPr/>
        </p:nvSpPr>
        <p:spPr>
          <a:xfrm>
            <a:off x="548640" y="1645920"/>
            <a:ext cx="3514344" cy="416052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04672" y="1920240"/>
            <a:ext cx="1371600" cy="310896"/>
          </a:xfrm>
          <a:prstGeom prst="roundRect">
            <a:avLst>
              <a:gd name="adj" fmla="val 26471"/>
            </a:avLst>
          </a:prstGeom>
          <a:solidFill>
            <a:srgbClr val="E8F4EE"/>
          </a:solidFill>
          <a:ln w="9525">
            <a:solidFill>
              <a:srgbClr val="2E8B6A"/>
            </a:solidFill>
            <a:prstDash val="solid"/>
          </a:ln>
        </p:spPr>
      </p:sp>
      <p:sp>
        <p:nvSpPr>
          <p:cNvPr id="6" name="Text 4"/>
          <p:cNvSpPr/>
          <p:nvPr/>
        </p:nvSpPr>
        <p:spPr>
          <a:xfrm>
            <a:off x="804672" y="1901952"/>
            <a:ext cx="1371600" cy="329184"/>
          </a:xfrm>
          <a:prstGeom prst="rect">
            <a:avLst/>
          </a:prstGeom>
          <a:noFill/>
          <a:ln/>
        </p:spPr>
        <p:txBody>
          <a:bodyPr wrap="square" lIns="0" tIns="0" rIns="0" bIns="0" rtlCol="0" anchor="ctr"/>
          <a:lstStyle/>
          <a:p>
            <a:pPr algn="ctr" indent="0" marL="0">
              <a:buNone/>
            </a:pPr>
            <a:r>
              <a:rPr lang="en-US" sz="950" b="1" dirty="0">
                <a:solidFill>
                  <a:srgbClr val="2E8B6A"/>
                </a:solidFill>
                <a:latin typeface="Courier New" pitchFamily="34" charset="0"/>
                <a:ea typeface="Courier New" pitchFamily="34" charset="-122"/>
                <a:cs typeface="Courier New" pitchFamily="34" charset="-120"/>
              </a:rPr>
              <a:t>DAYS 1–30</a:t>
            </a:r>
            <a:endParaRPr lang="en-US" sz="950" dirty="0"/>
          </a:p>
        </p:txBody>
      </p:sp>
      <p:sp>
        <p:nvSpPr>
          <p:cNvPr id="7" name="Text 5"/>
          <p:cNvSpPr/>
          <p:nvPr/>
        </p:nvSpPr>
        <p:spPr>
          <a:xfrm>
            <a:off x="804672" y="2359152"/>
            <a:ext cx="3002280" cy="384048"/>
          </a:xfrm>
          <a:prstGeom prst="rect">
            <a:avLst/>
          </a:prstGeom>
          <a:noFill/>
          <a:ln/>
        </p:spPr>
        <p:txBody>
          <a:bodyPr wrap="square" lIns="0" tIns="0" rIns="0" bIns="0" rtlCol="0" anchor="ctr"/>
          <a:lstStyle/>
          <a:p>
            <a:pPr indent="0" marL="0">
              <a:buNone/>
            </a:pPr>
            <a:r>
              <a:rPr lang="en-US" sz="1800" b="1" dirty="0">
                <a:solidFill>
                  <a:srgbClr val="201A2E"/>
                </a:solidFill>
                <a:latin typeface="Arial" pitchFamily="34" charset="0"/>
                <a:ea typeface="Arial" pitchFamily="34" charset="-122"/>
                <a:cs typeface="Arial" pitchFamily="34" charset="-120"/>
              </a:rPr>
              <a:t>Foundation</a:t>
            </a:r>
            <a:endParaRPr lang="en-US" sz="1800" dirty="0"/>
          </a:p>
        </p:txBody>
      </p:sp>
      <p:sp>
        <p:nvSpPr>
          <p:cNvPr id="8" name="Text 6"/>
          <p:cNvSpPr/>
          <p:nvPr/>
        </p:nvSpPr>
        <p:spPr>
          <a:xfrm>
            <a:off x="804672" y="2834640"/>
            <a:ext cx="3057144" cy="2697480"/>
          </a:xfrm>
          <a:prstGeom prst="rect">
            <a:avLst/>
          </a:prstGeom>
          <a:noFill/>
          <a:ln/>
        </p:spPr>
        <p:txBody>
          <a:bodyPr wrap="square" lIns="0" tIns="0" rIns="0" bIns="0" rtlCol="0" anchor="ctr"/>
          <a:lstStyle/>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Build the three agents; train on existing docs</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Commit MCP config + instruction files to every repo</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Ship the C1 knowledge-push job in one repo</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Developers adopt agent-briefed planning (A2/A3)</a:t>
            </a:r>
            <a:endParaRPr lang="en-US" sz="1150" dirty="0"/>
          </a:p>
        </p:txBody>
      </p:sp>
      <p:sp>
        <p:nvSpPr>
          <p:cNvPr id="9" name="Shape 7"/>
          <p:cNvSpPr/>
          <p:nvPr/>
        </p:nvSpPr>
        <p:spPr>
          <a:xfrm>
            <a:off x="4337304" y="1645920"/>
            <a:ext cx="3514344" cy="416052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Shape 8"/>
          <p:cNvSpPr/>
          <p:nvPr/>
        </p:nvSpPr>
        <p:spPr>
          <a:xfrm>
            <a:off x="4593336" y="1920240"/>
            <a:ext cx="1371600" cy="310896"/>
          </a:xfrm>
          <a:prstGeom prst="roundRect">
            <a:avLst>
              <a:gd name="adj" fmla="val 26471"/>
            </a:avLst>
          </a:prstGeom>
          <a:solidFill>
            <a:srgbClr val="F9F1DE"/>
          </a:solidFill>
          <a:ln w="9525">
            <a:solidFill>
              <a:srgbClr val="B07C1F"/>
            </a:solidFill>
            <a:prstDash val="solid"/>
          </a:ln>
        </p:spPr>
      </p:sp>
      <p:sp>
        <p:nvSpPr>
          <p:cNvPr id="11" name="Text 9"/>
          <p:cNvSpPr/>
          <p:nvPr/>
        </p:nvSpPr>
        <p:spPr>
          <a:xfrm>
            <a:off x="4593336" y="1901952"/>
            <a:ext cx="1371600" cy="329184"/>
          </a:xfrm>
          <a:prstGeom prst="rect">
            <a:avLst/>
          </a:prstGeom>
          <a:noFill/>
          <a:ln/>
        </p:spPr>
        <p:txBody>
          <a:bodyPr wrap="square" lIns="0" tIns="0" rIns="0" bIns="0" rtlCol="0" anchor="ctr"/>
          <a:lstStyle/>
          <a:p>
            <a:pPr algn="ctr" indent="0" marL="0">
              <a:buNone/>
            </a:pPr>
            <a:r>
              <a:rPr lang="en-US" sz="950" b="1" dirty="0">
                <a:solidFill>
                  <a:srgbClr val="B07C1F"/>
                </a:solidFill>
                <a:latin typeface="Courier New" pitchFamily="34" charset="0"/>
                <a:ea typeface="Courier New" pitchFamily="34" charset="-122"/>
                <a:cs typeface="Courier New" pitchFamily="34" charset="-120"/>
              </a:rPr>
              <a:t>DAYS 31–60</a:t>
            </a:r>
            <a:endParaRPr lang="en-US" sz="950" dirty="0"/>
          </a:p>
        </p:txBody>
      </p:sp>
      <p:sp>
        <p:nvSpPr>
          <p:cNvPr id="12" name="Text 10"/>
          <p:cNvSpPr/>
          <p:nvPr/>
        </p:nvSpPr>
        <p:spPr>
          <a:xfrm>
            <a:off x="4593336" y="2359152"/>
            <a:ext cx="3002280" cy="384048"/>
          </a:xfrm>
          <a:prstGeom prst="rect">
            <a:avLst/>
          </a:prstGeom>
          <a:noFill/>
          <a:ln/>
        </p:spPr>
        <p:txBody>
          <a:bodyPr wrap="square" lIns="0" tIns="0" rIns="0" bIns="0" rtlCol="0" anchor="ctr"/>
          <a:lstStyle/>
          <a:p>
            <a:pPr indent="0" marL="0">
              <a:buNone/>
            </a:pPr>
            <a:r>
              <a:rPr lang="en-US" sz="1800" b="1" dirty="0">
                <a:solidFill>
                  <a:srgbClr val="201A2E"/>
                </a:solidFill>
                <a:latin typeface="Arial" pitchFamily="34" charset="0"/>
                <a:ea typeface="Arial" pitchFamily="34" charset="-122"/>
                <a:cs typeface="Arial" pitchFamily="34" charset="-120"/>
              </a:rPr>
              <a:t>Habits</a:t>
            </a:r>
            <a:endParaRPr lang="en-US" sz="1800" dirty="0"/>
          </a:p>
        </p:txBody>
      </p:sp>
      <p:sp>
        <p:nvSpPr>
          <p:cNvPr id="13" name="Text 11"/>
          <p:cNvSpPr/>
          <p:nvPr/>
        </p:nvSpPr>
        <p:spPr>
          <a:xfrm>
            <a:off x="4593336" y="2834640"/>
            <a:ext cx="3057144" cy="2697480"/>
          </a:xfrm>
          <a:prstGeom prst="rect">
            <a:avLst/>
          </a:prstGeom>
          <a:noFill/>
          <a:ln/>
        </p:spPr>
        <p:txBody>
          <a:bodyPr wrap="square" lIns="0" tIns="0" rIns="0" bIns="0" rtlCol="0" anchor="ctr"/>
          <a:lstStyle/>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C1 in all repos; docs-in-the-PR becomes convention</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PM specs drafted with the Product Agent (A1)</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Support simulations after each release (B1)</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First weekly triage (A5) and docs-gap review (C3)</a:t>
            </a:r>
            <a:endParaRPr lang="en-US" sz="1150" dirty="0"/>
          </a:p>
        </p:txBody>
      </p:sp>
      <p:sp>
        <p:nvSpPr>
          <p:cNvPr id="14" name="Shape 12"/>
          <p:cNvSpPr/>
          <p:nvPr/>
        </p:nvSpPr>
        <p:spPr>
          <a:xfrm>
            <a:off x="8125968" y="1645920"/>
            <a:ext cx="3514344" cy="4160520"/>
          </a:xfrm>
          <a:prstGeom prst="roundRect">
            <a:avLst>
              <a:gd name="adj" fmla="val 2082"/>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Shape 13"/>
          <p:cNvSpPr/>
          <p:nvPr/>
        </p:nvSpPr>
        <p:spPr>
          <a:xfrm>
            <a:off x="8382000" y="1920240"/>
            <a:ext cx="1371600" cy="310896"/>
          </a:xfrm>
          <a:prstGeom prst="roundRect">
            <a:avLst>
              <a:gd name="adj" fmla="val 26471"/>
            </a:avLst>
          </a:prstGeom>
          <a:solidFill>
            <a:srgbClr val="F1EDFF"/>
          </a:solidFill>
          <a:ln w="9525">
            <a:solidFill>
              <a:srgbClr val="6D4AEF"/>
            </a:solidFill>
            <a:prstDash val="solid"/>
          </a:ln>
        </p:spPr>
      </p:sp>
      <p:sp>
        <p:nvSpPr>
          <p:cNvPr id="16" name="Text 14"/>
          <p:cNvSpPr/>
          <p:nvPr/>
        </p:nvSpPr>
        <p:spPr>
          <a:xfrm>
            <a:off x="8382000" y="1901952"/>
            <a:ext cx="1371600" cy="329184"/>
          </a:xfrm>
          <a:prstGeom prst="rect">
            <a:avLst/>
          </a:prstGeom>
          <a:noFill/>
          <a:ln/>
        </p:spPr>
        <p:txBody>
          <a:bodyPr wrap="square" lIns="0" tIns="0" rIns="0" bIns="0" rtlCol="0" anchor="ctr"/>
          <a:lstStyle/>
          <a:p>
            <a:pPr algn="ctr" indent="0" marL="0">
              <a:buNone/>
            </a:pPr>
            <a:r>
              <a:rPr lang="en-US" sz="950" b="1" dirty="0">
                <a:solidFill>
                  <a:srgbClr val="6D4AEF"/>
                </a:solidFill>
                <a:latin typeface="Courier New" pitchFamily="34" charset="0"/>
                <a:ea typeface="Courier New" pitchFamily="34" charset="-122"/>
                <a:cs typeface="Courier New" pitchFamily="34" charset="-120"/>
              </a:rPr>
              <a:t>DAYS 61–90</a:t>
            </a:r>
            <a:endParaRPr lang="en-US" sz="950" dirty="0"/>
          </a:p>
        </p:txBody>
      </p:sp>
      <p:sp>
        <p:nvSpPr>
          <p:cNvPr id="17" name="Text 15"/>
          <p:cNvSpPr/>
          <p:nvPr/>
        </p:nvSpPr>
        <p:spPr>
          <a:xfrm>
            <a:off x="8382000" y="2359152"/>
            <a:ext cx="3002280" cy="384048"/>
          </a:xfrm>
          <a:prstGeom prst="rect">
            <a:avLst/>
          </a:prstGeom>
          <a:noFill/>
          <a:ln/>
        </p:spPr>
        <p:txBody>
          <a:bodyPr wrap="square" lIns="0" tIns="0" rIns="0" bIns="0" rtlCol="0" anchor="ctr"/>
          <a:lstStyle/>
          <a:p>
            <a:pPr indent="0" marL="0">
              <a:buNone/>
            </a:pPr>
            <a:r>
              <a:rPr lang="en-US" sz="1800" b="1" dirty="0">
                <a:solidFill>
                  <a:srgbClr val="201A2E"/>
                </a:solidFill>
                <a:latin typeface="Arial" pitchFamily="34" charset="0"/>
                <a:ea typeface="Arial" pitchFamily="34" charset="-122"/>
                <a:cs typeface="Arial" pitchFamily="34" charset="-120"/>
              </a:rPr>
              <a:t>Automation</a:t>
            </a:r>
            <a:endParaRPr lang="en-US" sz="1800" dirty="0"/>
          </a:p>
        </p:txBody>
      </p:sp>
      <p:sp>
        <p:nvSpPr>
          <p:cNvPr id="18" name="Text 16"/>
          <p:cNvSpPr/>
          <p:nvPr/>
        </p:nvSpPr>
        <p:spPr>
          <a:xfrm>
            <a:off x="8382000" y="2834640"/>
            <a:ext cx="3057144" cy="2697480"/>
          </a:xfrm>
          <a:prstGeom prst="rect">
            <a:avLst/>
          </a:prstGeom>
          <a:noFill/>
          <a:ln/>
        </p:spPr>
        <p:txBody>
          <a:bodyPr wrap="square" lIns="0" tIns="0" rIns="0" bIns="0" rtlCol="0" anchor="ctr"/>
          <a:lstStyle/>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Spec-aware review gate on every PR (A4)</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Escalation pipeline live; draft-PR class piloted (B2)</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Company-wide answer desk rollout (B4)</a:t>
            </a:r>
            <a:endParaRPr lang="en-US" sz="1150" dirty="0"/>
          </a:p>
          <a:p>
            <a:pPr marL="152400" indent="-152400">
              <a:lnSpc>
                <a:spcPts val="1550"/>
              </a:lnSpc>
              <a:spcAft>
                <a:spcPts val="800"/>
              </a:spcAft>
              <a:buSzPct val="100000"/>
              <a:buChar char="•"/>
            </a:pPr>
            <a:r>
              <a:rPr lang="en-US" sz="1150" dirty="0">
                <a:solidFill>
                  <a:srgbClr val="5A5170"/>
                </a:solidFill>
                <a:latin typeface="Arial" pitchFamily="34" charset="0"/>
                <a:ea typeface="Arial" pitchFamily="34" charset="-122"/>
                <a:cs typeface="Arial" pitchFamily="34" charset="-120"/>
              </a:rPr>
              <a:t>Day-90 metrics review: widen or kill each play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1672" cy="274320"/>
          </a:xfrm>
          <a:prstGeom prst="rect">
            <a:avLst/>
          </a:prstGeom>
          <a:noFill/>
          <a:ln/>
        </p:spPr>
        <p:txBody>
          <a:bodyPr wrap="square" lIns="0" tIns="0" rIns="0" bIns="0" rtlCol="0" anchor="ctr"/>
          <a:lstStyle/>
          <a:p>
            <a:pPr indent="0" marL="0">
              <a:buNone/>
            </a:pPr>
            <a:r>
              <a:rPr lang="en-US" sz="1100" spc="200" kern="0" dirty="0">
                <a:solidFill>
                  <a:srgbClr val="5A5170"/>
                </a:solidFill>
                <a:latin typeface="Courier New" pitchFamily="34" charset="0"/>
                <a:ea typeface="Courier New" pitchFamily="34" charset="-122"/>
                <a:cs typeface="Courier New" pitchFamily="34" charset="-120"/>
              </a:rPr>
              <a:t>08 · BEYOND THE DLC</a:t>
            </a:r>
            <a:endParaRPr lang="en-US" sz="1100" dirty="0"/>
          </a:p>
        </p:txBody>
      </p:sp>
      <p:sp>
        <p:nvSpPr>
          <p:cNvPr id="3" name="Text 1"/>
          <p:cNvSpPr/>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201A2E"/>
                </a:solidFill>
                <a:latin typeface="Arial" pitchFamily="34" charset="0"/>
                <a:ea typeface="Arial" pitchFamily="34" charset="-122"/>
                <a:cs typeface="Arial" pitchFamily="34" charset="-120"/>
              </a:rPr>
              <a:t>The same loop pays off across development</a:t>
            </a:r>
            <a:endParaRPr lang="en-US" sz="3000" dirty="0"/>
          </a:p>
        </p:txBody>
      </p:sp>
      <p:sp>
        <p:nvSpPr>
          <p:cNvPr id="4" name="Shape 2"/>
          <p:cNvSpPr/>
          <p:nvPr/>
        </p:nvSpPr>
        <p:spPr>
          <a:xfrm>
            <a:off x="548640" y="164592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5" name="Shape 3"/>
          <p:cNvSpPr/>
          <p:nvPr/>
        </p:nvSpPr>
        <p:spPr>
          <a:xfrm>
            <a:off x="841248" y="1938528"/>
            <a:ext cx="512064" cy="512064"/>
          </a:xfrm>
          <a:prstGeom prst="ellipse">
            <a:avLst/>
          </a:prstGeom>
          <a:solidFill>
            <a:srgbClr val="F7F5FB"/>
          </a:solidFill>
          <a:ln/>
        </p:spPr>
      </p:sp>
      <p:pic>
        <p:nvPicPr>
          <p:cNvPr id="6" name="Image 0" descr="preencoded.png">    </p:cNvPr>
          <p:cNvPicPr>
            <a:picLocks noChangeAspect="1"/>
          </p:cNvPicPr>
          <p:nvPr/>
        </p:nvPicPr>
        <p:blipFill>
          <a:blip r:embed="rId1"/>
          <a:stretch>
            <a:fillRect/>
          </a:stretch>
        </p:blipFill>
        <p:spPr>
          <a:xfrm>
            <a:off x="974385" y="2071665"/>
            <a:ext cx="245791" cy="245791"/>
          </a:xfrm>
          <a:prstGeom prst="rect">
            <a:avLst/>
          </a:prstGeom>
        </p:spPr>
      </p:pic>
      <p:sp>
        <p:nvSpPr>
          <p:cNvPr id="7" name="Text 4"/>
          <p:cNvSpPr/>
          <p:nvPr/>
        </p:nvSpPr>
        <p:spPr>
          <a:xfrm>
            <a:off x="1508760" y="196596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Onboarding</a:t>
            </a:r>
            <a:endParaRPr lang="en-US" sz="1600" dirty="0"/>
          </a:p>
        </p:txBody>
      </p:sp>
      <p:sp>
        <p:nvSpPr>
          <p:cNvPr id="8" name="Text 5"/>
          <p:cNvSpPr/>
          <p:nvPr/>
        </p:nvSpPr>
        <p:spPr>
          <a:xfrm>
            <a:off x="1508760" y="235915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New hires ask the Codebase Agent instead of waiting for a buddy. Ramp time measured in days — and their questions reveal exactly which docs are missing.</a:t>
            </a:r>
            <a:endParaRPr lang="en-US" sz="1200" dirty="0"/>
          </a:p>
        </p:txBody>
      </p:sp>
      <p:sp>
        <p:nvSpPr>
          <p:cNvPr id="9" name="Shape 6"/>
          <p:cNvSpPr/>
          <p:nvPr/>
        </p:nvSpPr>
        <p:spPr>
          <a:xfrm>
            <a:off x="6277356" y="164592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0" name="Shape 7"/>
          <p:cNvSpPr/>
          <p:nvPr/>
        </p:nvSpPr>
        <p:spPr>
          <a:xfrm>
            <a:off x="6569964" y="1938528"/>
            <a:ext cx="512064" cy="512064"/>
          </a:xfrm>
          <a:prstGeom prst="ellipse">
            <a:avLst/>
          </a:prstGeom>
          <a:solidFill>
            <a:srgbClr val="F7F5FB"/>
          </a:solidFill>
          <a:ln/>
        </p:spPr>
      </p:sp>
      <p:pic>
        <p:nvPicPr>
          <p:cNvPr id="11" name="Image 1" descr="preencoded.png">    </p:cNvPr>
          <p:cNvPicPr>
            <a:picLocks noChangeAspect="1"/>
          </p:cNvPicPr>
          <p:nvPr/>
        </p:nvPicPr>
        <p:blipFill>
          <a:blip r:embed="rId2"/>
          <a:stretch>
            <a:fillRect/>
          </a:stretch>
        </p:blipFill>
        <p:spPr>
          <a:xfrm>
            <a:off x="6703101" y="2071665"/>
            <a:ext cx="245791" cy="245791"/>
          </a:xfrm>
          <a:prstGeom prst="rect">
            <a:avLst/>
          </a:prstGeom>
        </p:spPr>
      </p:pic>
      <p:sp>
        <p:nvSpPr>
          <p:cNvPr id="12" name="Text 8"/>
          <p:cNvSpPr/>
          <p:nvPr/>
        </p:nvSpPr>
        <p:spPr>
          <a:xfrm>
            <a:off x="7237476" y="196596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Incident response</a:t>
            </a:r>
            <a:endParaRPr lang="en-US" sz="1600" dirty="0"/>
          </a:p>
        </p:txBody>
      </p:sp>
      <p:sp>
        <p:nvSpPr>
          <p:cNvPr id="13" name="Text 9"/>
          <p:cNvSpPr/>
          <p:nvPr/>
        </p:nvSpPr>
        <p:spPr>
          <a:xfrm>
            <a:off x="7237476" y="235915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On-call queries the Codebase Agent for subsystem behavior and the Support Agent for customer blast radius, while the coding agent bisects the regression.</a:t>
            </a:r>
            <a:endParaRPr lang="en-US" sz="1200" dirty="0"/>
          </a:p>
        </p:txBody>
      </p:sp>
      <p:sp>
        <p:nvSpPr>
          <p:cNvPr id="14" name="Shape 10"/>
          <p:cNvSpPr/>
          <p:nvPr/>
        </p:nvSpPr>
        <p:spPr>
          <a:xfrm>
            <a:off x="548640" y="406908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15" name="Shape 11"/>
          <p:cNvSpPr/>
          <p:nvPr/>
        </p:nvSpPr>
        <p:spPr>
          <a:xfrm>
            <a:off x="841248" y="4361688"/>
            <a:ext cx="512064" cy="512064"/>
          </a:xfrm>
          <a:prstGeom prst="ellipse">
            <a:avLst/>
          </a:prstGeom>
          <a:solidFill>
            <a:srgbClr val="F7F5FB"/>
          </a:solidFill>
          <a:ln/>
        </p:spPr>
      </p:sp>
      <p:pic>
        <p:nvPicPr>
          <p:cNvPr id="16" name="Image 2" descr="preencoded.png">    </p:cNvPr>
          <p:cNvPicPr>
            <a:picLocks noChangeAspect="1"/>
          </p:cNvPicPr>
          <p:nvPr/>
        </p:nvPicPr>
        <p:blipFill>
          <a:blip r:embed="rId3"/>
          <a:stretch>
            <a:fillRect/>
          </a:stretch>
        </p:blipFill>
        <p:spPr>
          <a:xfrm>
            <a:off x="974385" y="4494825"/>
            <a:ext cx="245791" cy="245791"/>
          </a:xfrm>
          <a:prstGeom prst="rect">
            <a:avLst/>
          </a:prstGeom>
        </p:spPr>
      </p:pic>
      <p:sp>
        <p:nvSpPr>
          <p:cNvPr id="17" name="Text 12"/>
          <p:cNvSpPr/>
          <p:nvPr/>
        </p:nvSpPr>
        <p:spPr>
          <a:xfrm>
            <a:off x="1508760" y="438912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Cross-team reuse</a:t>
            </a:r>
            <a:endParaRPr lang="en-US" sz="1600" dirty="0"/>
          </a:p>
        </p:txBody>
      </p:sp>
      <p:sp>
        <p:nvSpPr>
          <p:cNvPr id="18" name="Text 13"/>
          <p:cNvSpPr/>
          <p:nvPr/>
        </p:nvSpPr>
        <p:spPr>
          <a:xfrm>
            <a:off x="1508760" y="478231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Sales engineering, CS, and legal query the same agents through Copilot and Teams. The dev team's knowledge investment pays out org-wide.</a:t>
            </a:r>
            <a:endParaRPr lang="en-US" sz="1200" dirty="0"/>
          </a:p>
        </p:txBody>
      </p:sp>
      <p:sp>
        <p:nvSpPr>
          <p:cNvPr id="19" name="Shape 14"/>
          <p:cNvSpPr/>
          <p:nvPr/>
        </p:nvSpPr>
        <p:spPr>
          <a:xfrm>
            <a:off x="6277356" y="4069080"/>
            <a:ext cx="5362956" cy="2103120"/>
          </a:xfrm>
          <a:prstGeom prst="roundRect">
            <a:avLst>
              <a:gd name="adj" fmla="val 3478"/>
            </a:avLst>
          </a:prstGeom>
          <a:solidFill>
            <a:srgbClr val="FFFFFF"/>
          </a:solidFill>
          <a:ln w="12700">
            <a:solidFill>
              <a:srgbClr val="E4E0EE"/>
            </a:solidFill>
            <a:prstDash val="solid"/>
          </a:ln>
          <a:effectLst>
            <a:outerShdw sx="100000" sy="100000" kx="0" ky="0" algn="bl" rotWithShape="0" blurRad="76200" dist="12700" dir="5400000">
              <a:srgbClr val="B4ABCE">
                <a:alpha val="28000"/>
              </a:srgbClr>
            </a:outerShdw>
          </a:effectLst>
        </p:spPr>
      </p:sp>
      <p:sp>
        <p:nvSpPr>
          <p:cNvPr id="20" name="Shape 15"/>
          <p:cNvSpPr/>
          <p:nvPr/>
        </p:nvSpPr>
        <p:spPr>
          <a:xfrm>
            <a:off x="6569964" y="4361688"/>
            <a:ext cx="512064" cy="512064"/>
          </a:xfrm>
          <a:prstGeom prst="ellipse">
            <a:avLst/>
          </a:prstGeom>
          <a:solidFill>
            <a:srgbClr val="F7F5FB"/>
          </a:solidFill>
          <a:ln/>
        </p:spPr>
      </p:sp>
      <p:pic>
        <p:nvPicPr>
          <p:cNvPr id="21" name="Image 3" descr="preencoded.png">    </p:cNvPr>
          <p:cNvPicPr>
            <a:picLocks noChangeAspect="1"/>
          </p:cNvPicPr>
          <p:nvPr/>
        </p:nvPicPr>
        <p:blipFill>
          <a:blip r:embed="rId4"/>
          <a:stretch>
            <a:fillRect/>
          </a:stretch>
        </p:blipFill>
        <p:spPr>
          <a:xfrm>
            <a:off x="6703101" y="4494825"/>
            <a:ext cx="245791" cy="245791"/>
          </a:xfrm>
          <a:prstGeom prst="rect">
            <a:avLst/>
          </a:prstGeom>
        </p:spPr>
      </p:pic>
      <p:sp>
        <p:nvSpPr>
          <p:cNvPr id="22" name="Text 16"/>
          <p:cNvSpPr/>
          <p:nvPr/>
        </p:nvSpPr>
        <p:spPr>
          <a:xfrm>
            <a:off x="7237476" y="4389120"/>
            <a:ext cx="4128516" cy="347472"/>
          </a:xfrm>
          <a:prstGeom prst="rect">
            <a:avLst/>
          </a:prstGeom>
          <a:noFill/>
          <a:ln/>
        </p:spPr>
        <p:txBody>
          <a:bodyPr wrap="square" lIns="0" tIns="0" rIns="0" bIns="0" rtlCol="0" anchor="ctr"/>
          <a:lstStyle/>
          <a:p>
            <a:pPr indent="0" marL="0">
              <a:buNone/>
            </a:pPr>
            <a:r>
              <a:rPr lang="en-US" sz="1600" b="1" dirty="0">
                <a:solidFill>
                  <a:srgbClr val="201A2E"/>
                </a:solidFill>
                <a:latin typeface="Arial" pitchFamily="34" charset="0"/>
                <a:ea typeface="Arial" pitchFamily="34" charset="-122"/>
                <a:cs typeface="Arial" pitchFamily="34" charset="-120"/>
              </a:rPr>
              <a:t>Multi-agent future</a:t>
            </a:r>
            <a:endParaRPr lang="en-US" sz="1600" dirty="0"/>
          </a:p>
        </p:txBody>
      </p:sp>
      <p:sp>
        <p:nvSpPr>
          <p:cNvPr id="23" name="Text 17"/>
          <p:cNvSpPr/>
          <p:nvPr/>
        </p:nvSpPr>
        <p:spPr>
          <a:xfrm>
            <a:off x="7237476" y="4782312"/>
            <a:ext cx="4128516" cy="1234440"/>
          </a:xfrm>
          <a:prstGeom prst="rect">
            <a:avLst/>
          </a:prstGeom>
          <a:noFill/>
          <a:ln/>
        </p:spPr>
        <p:txBody>
          <a:bodyPr wrap="square" lIns="0" tIns="0" rIns="0" bIns="0" rtlCol="0" anchor="ctr"/>
          <a:lstStyle/>
          <a:p>
            <a:pPr indent="0" marL="0">
              <a:lnSpc>
                <a:spcPts val="1650"/>
              </a:lnSpc>
              <a:buNone/>
            </a:pPr>
            <a:r>
              <a:rPr lang="en-US" sz="1200" dirty="0">
                <a:solidFill>
                  <a:srgbClr val="5A5170"/>
                </a:solidFill>
                <a:latin typeface="Arial" pitchFamily="34" charset="0"/>
                <a:ea typeface="Arial" pitchFamily="34" charset="-122"/>
                <a:cs typeface="Arial" pitchFamily="34" charset="-120"/>
              </a:rPr>
              <a:t>raia's Orchestrator routes to specialist subagents. The same pattern extends to per-service Codebase Agents as the system grows.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01A2E"/>
        </a:solidFill>
      </p:bgPr>
    </p:bg>
    <p:spTree>
      <p:nvGrpSpPr>
        <p:cNvPr id="1" name=""/>
        <p:cNvGrpSpPr/>
        <p:nvPr/>
      </p:nvGrpSpPr>
      <p:grpSpPr>
        <a:xfrm>
          <a:off x="0" y="0"/>
          <a:ext cx="0" cy="0"/>
          <a:chOff x="0" y="0"/>
          <a:chExt cx="0" cy="0"/>
        </a:xfrm>
      </p:grpSpPr>
      <p:sp>
        <p:nvSpPr>
          <p:cNvPr id="2" name="Text 0"/>
          <p:cNvSpPr/>
          <p:nvPr/>
        </p:nvSpPr>
        <p:spPr>
          <a:xfrm>
            <a:off x="548640" y="1051560"/>
            <a:ext cx="5486400" cy="320040"/>
          </a:xfrm>
          <a:prstGeom prst="rect">
            <a:avLst/>
          </a:prstGeom>
          <a:noFill/>
          <a:ln/>
        </p:spPr>
        <p:txBody>
          <a:bodyPr wrap="square" lIns="0" tIns="0" rIns="0" bIns="0" rtlCol="0" anchor="ctr"/>
          <a:lstStyle/>
          <a:p>
            <a:pPr indent="0" marL="0">
              <a:buNone/>
            </a:pPr>
            <a:r>
              <a:rPr lang="en-US" sz="1200" spc="300" kern="0" dirty="0">
                <a:solidFill>
                  <a:srgbClr val="6D4AEF"/>
                </a:solidFill>
                <a:latin typeface="Courier New" pitchFamily="34" charset="0"/>
                <a:ea typeface="Courier New" pitchFamily="34" charset="-122"/>
                <a:cs typeface="Courier New" pitchFamily="34" charset="-120"/>
              </a:rPr>
              <a:t>THE ASK</a:t>
            </a:r>
            <a:endParaRPr lang="en-US" sz="1200" dirty="0"/>
          </a:p>
        </p:txBody>
      </p:sp>
      <p:sp>
        <p:nvSpPr>
          <p:cNvPr id="3" name="Text 1"/>
          <p:cNvSpPr/>
          <p:nvPr/>
        </p:nvSpPr>
        <p:spPr>
          <a:xfrm>
            <a:off x="548640" y="1463040"/>
            <a:ext cx="7498080" cy="2011680"/>
          </a:xfrm>
          <a:prstGeom prst="rect">
            <a:avLst/>
          </a:prstGeom>
          <a:noFill/>
          <a:ln/>
        </p:spPr>
        <p:txBody>
          <a:bodyPr wrap="square" lIns="0" tIns="0" rIns="0" bIns="0" rtlCol="0" anchor="ctr"/>
          <a:lstStyle/>
          <a:p>
            <a:pPr indent="0" marL="0">
              <a:lnSpc>
                <a:spcPts val="4600"/>
              </a:lnSpc>
              <a:buNone/>
            </a:pPr>
            <a:r>
              <a:rPr lang="en-US" sz="3600" b="1" dirty="0">
                <a:solidFill>
                  <a:srgbClr val="FFFFFF"/>
                </a:solidFill>
                <a:latin typeface="Arial" pitchFamily="34" charset="0"/>
                <a:ea typeface="Arial" pitchFamily="34" charset="-122"/>
                <a:cs typeface="Arial" pitchFamily="34" charset="-120"/>
              </a:rPr>
              <a:t>Every merge makes the whole company smarter.</a:t>
            </a:r>
            <a:endParaRPr lang="en-US" sz="3600" dirty="0"/>
          </a:p>
        </p:txBody>
      </p:sp>
      <p:sp>
        <p:nvSpPr>
          <p:cNvPr id="4" name="Shape 2"/>
          <p:cNvSpPr/>
          <p:nvPr/>
        </p:nvSpPr>
        <p:spPr>
          <a:xfrm>
            <a:off x="548640" y="3794760"/>
            <a:ext cx="457200" cy="457200"/>
          </a:xfrm>
          <a:prstGeom prst="ellipse">
            <a:avLst/>
          </a:prstGeom>
          <a:solidFill>
            <a:srgbClr val="2A2344"/>
          </a:solidFill>
          <a:ln w="15875">
            <a:solidFill>
              <a:srgbClr val="6D4AEF"/>
            </a:solidFill>
            <a:prstDash val="solid"/>
          </a:ln>
        </p:spPr>
      </p:sp>
      <p:sp>
        <p:nvSpPr>
          <p:cNvPr id="5" name="Text 3"/>
          <p:cNvSpPr/>
          <p:nvPr/>
        </p:nvSpPr>
        <p:spPr>
          <a:xfrm>
            <a:off x="548640" y="3776472"/>
            <a:ext cx="457200" cy="493776"/>
          </a:xfrm>
          <a:prstGeom prst="rect">
            <a:avLst/>
          </a:prstGeom>
          <a:noFill/>
          <a:ln/>
        </p:spPr>
        <p:txBody>
          <a:bodyPr wrap="square" lIns="0" tIns="0" rIns="0" bIns="0" rtlCol="0" anchor="ctr"/>
          <a:lstStyle/>
          <a:p>
            <a:pPr algn="ctr" indent="0" marL="0">
              <a:buNone/>
            </a:pPr>
            <a:r>
              <a:rPr lang="en-US" sz="1400" b="1" dirty="0">
                <a:solidFill>
                  <a:srgbClr val="9D85FF"/>
                </a:solidFill>
                <a:latin typeface="Courier New" pitchFamily="34" charset="0"/>
                <a:ea typeface="Courier New" pitchFamily="34" charset="-122"/>
                <a:cs typeface="Courier New" pitchFamily="34" charset="-120"/>
              </a:rPr>
              <a:t>1</a:t>
            </a:r>
            <a:endParaRPr lang="en-US" sz="1400" dirty="0"/>
          </a:p>
        </p:txBody>
      </p:sp>
      <p:sp>
        <p:nvSpPr>
          <p:cNvPr id="6" name="Text 4"/>
          <p:cNvSpPr/>
          <p:nvPr/>
        </p:nvSpPr>
        <p:spPr>
          <a:xfrm>
            <a:off x="1234440" y="3831336"/>
            <a:ext cx="7863840" cy="4114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Approve the 30-day foundation   </a:t>
            </a:r>
            <a:pPr indent="0" marL="0">
              <a:buNone/>
            </a:pPr>
            <a:r>
              <a:rPr lang="en-US" sz="1450" dirty="0">
                <a:solidFill>
                  <a:srgbClr val="A79DC0"/>
                </a:solidFill>
                <a:latin typeface="Arial" pitchFamily="34" charset="0"/>
                <a:ea typeface="Arial" pitchFamily="34" charset="-122"/>
                <a:cs typeface="Arial" pitchFamily="34" charset="-120"/>
              </a:rPr>
              <a:t>three agents, config in every repo, one CI job</a:t>
            </a:r>
            <a:endParaRPr lang="en-US" sz="1450" dirty="0"/>
          </a:p>
        </p:txBody>
      </p:sp>
      <p:sp>
        <p:nvSpPr>
          <p:cNvPr id="7" name="Shape 5"/>
          <p:cNvSpPr/>
          <p:nvPr/>
        </p:nvSpPr>
        <p:spPr>
          <a:xfrm>
            <a:off x="548640" y="4572000"/>
            <a:ext cx="457200" cy="457200"/>
          </a:xfrm>
          <a:prstGeom prst="ellipse">
            <a:avLst/>
          </a:prstGeom>
          <a:solidFill>
            <a:srgbClr val="2A2344"/>
          </a:solidFill>
          <a:ln w="15875">
            <a:solidFill>
              <a:srgbClr val="6D4AEF"/>
            </a:solidFill>
            <a:prstDash val="solid"/>
          </a:ln>
        </p:spPr>
      </p:sp>
      <p:sp>
        <p:nvSpPr>
          <p:cNvPr id="8" name="Text 6"/>
          <p:cNvSpPr/>
          <p:nvPr/>
        </p:nvSpPr>
        <p:spPr>
          <a:xfrm>
            <a:off x="548640" y="4553712"/>
            <a:ext cx="457200" cy="493776"/>
          </a:xfrm>
          <a:prstGeom prst="rect">
            <a:avLst/>
          </a:prstGeom>
          <a:noFill/>
          <a:ln/>
        </p:spPr>
        <p:txBody>
          <a:bodyPr wrap="square" lIns="0" tIns="0" rIns="0" bIns="0" rtlCol="0" anchor="ctr"/>
          <a:lstStyle/>
          <a:p>
            <a:pPr algn="ctr" indent="0" marL="0">
              <a:buNone/>
            </a:pPr>
            <a:r>
              <a:rPr lang="en-US" sz="1400" b="1" dirty="0">
                <a:solidFill>
                  <a:srgbClr val="9D85FF"/>
                </a:solidFill>
                <a:latin typeface="Courier New" pitchFamily="34" charset="0"/>
                <a:ea typeface="Courier New" pitchFamily="34" charset="-122"/>
                <a:cs typeface="Courier New" pitchFamily="34" charset="-120"/>
              </a:rPr>
              <a:t>2</a:t>
            </a:r>
            <a:endParaRPr lang="en-US" sz="1400" dirty="0"/>
          </a:p>
        </p:txBody>
      </p:sp>
      <p:sp>
        <p:nvSpPr>
          <p:cNvPr id="9" name="Text 7"/>
          <p:cNvSpPr/>
          <p:nvPr/>
        </p:nvSpPr>
        <p:spPr>
          <a:xfrm>
            <a:off x="1234440" y="4608576"/>
            <a:ext cx="7863840" cy="4114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Nominate the four owners   </a:t>
            </a:r>
            <a:pPr indent="0" marL="0">
              <a:buNone/>
            </a:pPr>
            <a:r>
              <a:rPr lang="en-US" sz="1450" dirty="0">
                <a:solidFill>
                  <a:srgbClr val="A79DC0"/>
                </a:solidFill>
                <a:latin typeface="Arial" pitchFamily="34" charset="0"/>
                <a:ea typeface="Arial" pitchFamily="34" charset="-122"/>
                <a:cs typeface="Arial" pitchFamily="34" charset="-120"/>
              </a:rPr>
              <a:t>developer champion, PM, support lead, docs owner</a:t>
            </a:r>
            <a:endParaRPr lang="en-US" sz="1450" dirty="0"/>
          </a:p>
        </p:txBody>
      </p:sp>
      <p:sp>
        <p:nvSpPr>
          <p:cNvPr id="10" name="Shape 8"/>
          <p:cNvSpPr/>
          <p:nvPr/>
        </p:nvSpPr>
        <p:spPr>
          <a:xfrm>
            <a:off x="548640" y="5349240"/>
            <a:ext cx="457200" cy="457200"/>
          </a:xfrm>
          <a:prstGeom prst="ellipse">
            <a:avLst/>
          </a:prstGeom>
          <a:solidFill>
            <a:srgbClr val="2A2344"/>
          </a:solidFill>
          <a:ln w="15875">
            <a:solidFill>
              <a:srgbClr val="6D4AEF"/>
            </a:solidFill>
            <a:prstDash val="solid"/>
          </a:ln>
        </p:spPr>
      </p:sp>
      <p:sp>
        <p:nvSpPr>
          <p:cNvPr id="11" name="Text 9"/>
          <p:cNvSpPr/>
          <p:nvPr/>
        </p:nvSpPr>
        <p:spPr>
          <a:xfrm>
            <a:off x="548640" y="5330952"/>
            <a:ext cx="457200" cy="493776"/>
          </a:xfrm>
          <a:prstGeom prst="rect">
            <a:avLst/>
          </a:prstGeom>
          <a:noFill/>
          <a:ln/>
        </p:spPr>
        <p:txBody>
          <a:bodyPr wrap="square" lIns="0" tIns="0" rIns="0" bIns="0" rtlCol="0" anchor="ctr"/>
          <a:lstStyle/>
          <a:p>
            <a:pPr algn="ctr" indent="0" marL="0">
              <a:buNone/>
            </a:pPr>
            <a:r>
              <a:rPr lang="en-US" sz="1400" b="1" dirty="0">
                <a:solidFill>
                  <a:srgbClr val="9D85FF"/>
                </a:solidFill>
                <a:latin typeface="Courier New" pitchFamily="34" charset="0"/>
                <a:ea typeface="Courier New" pitchFamily="34" charset="-122"/>
                <a:cs typeface="Courier New" pitchFamily="34" charset="-120"/>
              </a:rPr>
              <a:t>3</a:t>
            </a:r>
            <a:endParaRPr lang="en-US" sz="1400" dirty="0"/>
          </a:p>
        </p:txBody>
      </p:sp>
      <p:sp>
        <p:nvSpPr>
          <p:cNvPr id="12" name="Text 10"/>
          <p:cNvSpPr/>
          <p:nvPr/>
        </p:nvSpPr>
        <p:spPr>
          <a:xfrm>
            <a:off x="1234440" y="5385816"/>
            <a:ext cx="7863840" cy="41148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Book the day-90 metrics review   </a:t>
            </a:r>
            <a:pPr indent="0" marL="0">
              <a:buNone/>
            </a:pPr>
            <a:r>
              <a:rPr lang="en-US" sz="1450" dirty="0">
                <a:solidFill>
                  <a:srgbClr val="A79DC0"/>
                </a:solidFill>
                <a:latin typeface="Arial" pitchFamily="34" charset="0"/>
                <a:ea typeface="Arial" pitchFamily="34" charset="-122"/>
                <a:cs typeface="Arial" pitchFamily="34" charset="-120"/>
              </a:rPr>
              <a:t>widen what works, kill what doesn't</a:t>
            </a:r>
            <a:endParaRPr lang="en-US" sz="1450" dirty="0"/>
          </a:p>
        </p:txBody>
      </p:sp>
      <p:sp>
        <p:nvSpPr>
          <p:cNvPr id="13" name="Shape 11"/>
          <p:cNvSpPr/>
          <p:nvPr/>
        </p:nvSpPr>
        <p:spPr>
          <a:xfrm>
            <a:off x="9006840" y="3931920"/>
            <a:ext cx="2651760" cy="1737360"/>
          </a:xfrm>
          <a:prstGeom prst="roundRect">
            <a:avLst>
              <a:gd name="adj" fmla="val 5263"/>
            </a:avLst>
          </a:prstGeom>
          <a:solidFill>
            <a:srgbClr val="2A2344"/>
          </a:solidFill>
          <a:ln w="12700">
            <a:solidFill>
              <a:srgbClr val="453B60"/>
            </a:solidFill>
            <a:prstDash val="solid"/>
          </a:ln>
        </p:spPr>
      </p:sp>
      <p:sp>
        <p:nvSpPr>
          <p:cNvPr id="14" name="Shape 12"/>
          <p:cNvSpPr/>
          <p:nvPr/>
        </p:nvSpPr>
        <p:spPr>
          <a:xfrm>
            <a:off x="9281160" y="4206240"/>
            <a:ext cx="457200" cy="457200"/>
          </a:xfrm>
          <a:prstGeom prst="ellipse">
            <a:avLst/>
          </a:prstGeom>
          <a:solidFill>
            <a:srgbClr val="2E8B6A"/>
          </a:solidFill>
          <a:ln/>
        </p:spPr>
      </p:sp>
      <p:pic>
        <p:nvPicPr>
          <p:cNvPr id="15" name="Image 0" descr="preencoded.png">    </p:cNvPr>
          <p:cNvPicPr>
            <a:picLocks noChangeAspect="1"/>
          </p:cNvPicPr>
          <p:nvPr/>
        </p:nvPicPr>
        <p:blipFill>
          <a:blip r:embed="rId1"/>
          <a:stretch>
            <a:fillRect/>
          </a:stretch>
        </p:blipFill>
        <p:spPr>
          <a:xfrm>
            <a:off x="9400032" y="4325112"/>
            <a:ext cx="219456" cy="219456"/>
          </a:xfrm>
          <a:prstGeom prst="rect">
            <a:avLst/>
          </a:prstGeom>
        </p:spPr>
      </p:pic>
      <p:sp>
        <p:nvSpPr>
          <p:cNvPr id="16" name="Text 13"/>
          <p:cNvSpPr/>
          <p:nvPr/>
        </p:nvSpPr>
        <p:spPr>
          <a:xfrm>
            <a:off x="9281160" y="4754880"/>
            <a:ext cx="2194560" cy="868680"/>
          </a:xfrm>
          <a:prstGeom prst="rect">
            <a:avLst/>
          </a:prstGeom>
          <a:noFill/>
          <a:ln/>
        </p:spPr>
        <p:txBody>
          <a:bodyPr wrap="square" lIns="0" tIns="0" rIns="0" bIns="0" rtlCol="0" anchor="ctr"/>
          <a:lstStyle/>
          <a:p>
            <a:pPr indent="0" marL="0">
              <a:lnSpc>
                <a:spcPts val="1450"/>
              </a:lnSpc>
              <a:buNone/>
            </a:pPr>
            <a:r>
              <a:rPr lang="en-US" sz="1100" dirty="0">
                <a:solidFill>
                  <a:srgbClr val="A79DC0"/>
                </a:solidFill>
                <a:latin typeface="Arial" pitchFamily="34" charset="0"/>
                <a:ea typeface="Arial" pitchFamily="34" charset="-122"/>
                <a:cs typeface="Arial" pitchFamily="34" charset="-120"/>
              </a:rPr>
              <a:t>The playbook, templates,</a:t>
            </a:r>
            <a:endParaRPr lang="en-US" sz="1100" dirty="0"/>
          </a:p>
          <a:p>
            <a:pPr indent="0" marL="0">
              <a:lnSpc>
                <a:spcPts val="1450"/>
              </a:lnSpc>
              <a:buNone/>
            </a:pPr>
            <a:r>
              <a:rPr lang="en-US" sz="1100" dirty="0">
                <a:solidFill>
                  <a:srgbClr val="A79DC0"/>
                </a:solidFill>
                <a:latin typeface="Arial" pitchFamily="34" charset="0"/>
                <a:ea typeface="Arial" pitchFamily="34" charset="-122"/>
                <a:cs typeface="Arial" pitchFamily="34" charset="-120"/>
              </a:rPr>
              <a:t>workflow &amp; skill:</a:t>
            </a:r>
            <a:endParaRPr lang="en-US" sz="1100" dirty="0"/>
          </a:p>
          <a:p>
            <a:pPr indent="0" marL="0">
              <a:lnSpc>
                <a:spcPts val="1450"/>
              </a:lnSpc>
              <a:buNone/>
            </a:pPr>
            <a:r>
              <a:rPr lang="en-US" sz="1150" b="1" dirty="0">
                <a:solidFill>
                  <a:srgbClr val="FFFFFF"/>
                </a:solidFill>
                <a:latin typeface="Courier New" pitchFamily="34" charset="0"/>
                <a:ea typeface="Courier New" pitchFamily="34" charset="-122"/>
                <a:cs typeface="Courier New" pitchFamily="34" charset="-120"/>
              </a:rPr>
              <a:t>github.com/raia-ai/</a:t>
            </a:r>
            <a:endParaRPr lang="en-US" sz="1100" dirty="0"/>
          </a:p>
          <a:p>
            <a:pPr indent="0" marL="0">
              <a:lnSpc>
                <a:spcPts val="1450"/>
              </a:lnSpc>
              <a:buNone/>
            </a:pPr>
            <a:r>
              <a:rPr lang="en-US" sz="1150" b="1" dirty="0">
                <a:solidFill>
                  <a:srgbClr val="FFFFFF"/>
                </a:solidFill>
                <a:latin typeface="Courier New" pitchFamily="34" charset="0"/>
                <a:ea typeface="Courier New" pitchFamily="34" charset="-122"/>
                <a:cs typeface="Courier New" pitchFamily="34" charset="-120"/>
              </a:rPr>
              <a:t>ai-dlc-playbook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raia agents in the AI Development Lifecycle</dc:title>
  <dc:subject>PptxGenJS Presentation</dc:subject>
  <dc:creator>raia</dc:creator>
  <cp:lastModifiedBy>raia</cp:lastModifiedBy>
  <cp:revision>1</cp:revision>
  <dcterms:created xsi:type="dcterms:W3CDTF">2026-07-28T00:13:03Z</dcterms:created>
  <dcterms:modified xsi:type="dcterms:W3CDTF">2026-07-28T00:13:03Z</dcterms:modified>
</cp:coreProperties>
</file>